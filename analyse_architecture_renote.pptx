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A57137-1B45-40CB-8354-C7B541E998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FCB1EA-2AE4-4E70-9A78-31DAE8B8B8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A70C8D-DC69-492F-9B97-37E788D26D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F766E4-8871-4199-A2A6-BB5EC09B7A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49EBD7-6C9A-4FE2-A60F-DCE8FB55AC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6507C6-B9C3-4881-B3B1-432216F61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67D7CA-C15C-4E3C-9BBC-D3432549C2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CE6F97-B72F-466A-85C4-1420A90EA6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7C043D-5221-4B56-845E-B63F0F8F4E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44AA97-E6ED-468F-91D1-8EDFC861B8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F1CF4E-8972-430D-854D-F4490940B2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2560320"/>
            <a:ext cx="12188520" cy="54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109728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Renote — Analyse d'architecture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40000" y="20602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Problèmes actuels · Migration SOLID + MVC · API REST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59436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Projet P3 — OpenClassrooms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L'application Renote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457200" y="11887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Une app de prise de notes avec tags — stack Laravel + Livewire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365760" y="2011680"/>
            <a:ext cx="2468520" cy="14626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457200" y="21031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👤 User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457200" y="256032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Inscription / Connexion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3108960" y="2011680"/>
            <a:ext cx="2468520" cy="14626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3200400" y="21031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📝 Notes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3200400" y="256032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Créer, lire, supprimer des notes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0"/>
          <p:cNvSpPr/>
          <p:nvPr/>
        </p:nvSpPr>
        <p:spPr>
          <a:xfrm>
            <a:off x="5852160" y="2011680"/>
            <a:ext cx="2468520" cy="14626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5943600" y="21031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🏷️ Tags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2"/>
          <p:cNvSpPr/>
          <p:nvPr/>
        </p:nvSpPr>
        <p:spPr>
          <a:xfrm>
            <a:off x="5943600" y="256032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Créer des tags et les associer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13"/>
          <p:cNvSpPr/>
          <p:nvPr/>
        </p:nvSpPr>
        <p:spPr>
          <a:xfrm>
            <a:off x="8595360" y="2011680"/>
            <a:ext cx="2468520" cy="14626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4"/>
          <p:cNvSpPr/>
          <p:nvPr/>
        </p:nvSpPr>
        <p:spPr>
          <a:xfrm>
            <a:off x="8686800" y="210312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🗄️ SQLite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5"/>
          <p:cNvSpPr/>
          <p:nvPr/>
        </p:nvSpPr>
        <p:spPr>
          <a:xfrm>
            <a:off x="8686800" y="2560320"/>
            <a:ext cx="2285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Base de données embarquée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6"/>
          <p:cNvSpPr/>
          <p:nvPr/>
        </p:nvSpPr>
        <p:spPr>
          <a:xfrm>
            <a:off x="457200" y="37490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Architecture actuelle : server-driven (tout en PHP, HTML généré côté serveur)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7"/>
          <p:cNvSpPr/>
          <p:nvPr/>
        </p:nvSpPr>
        <p:spPr>
          <a:xfrm>
            <a:off x="457200" y="43891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Fichiers clés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8"/>
          <p:cNvSpPr/>
          <p:nvPr/>
        </p:nvSpPr>
        <p:spPr>
          <a:xfrm>
            <a:off x="457200" y="4754880"/>
            <a:ext cx="10972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app/Livewire/Notes.php  —  composant principal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app/Livewire/TagForm.php  —  formulaire de tag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app/Models/Note.php + Tag.php  —  modèles Eloquent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routes/web.php  —  routes HTML uniquement (pas d'API)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Problème #1 — Violation du principe S (Single Responsibility)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457200" y="11887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Notes.php fait TOUT en même temps :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365760" y="1828800"/>
            <a:ext cx="255996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365760" y="1828800"/>
            <a:ext cx="2559960" cy="31968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457200" y="1874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Validation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457200" y="22402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Règles $rules + appel à validate()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8"/>
          <p:cNvSpPr/>
          <p:nvPr/>
        </p:nvSpPr>
        <p:spPr>
          <a:xfrm>
            <a:off x="3291840" y="1828800"/>
            <a:ext cx="255996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9"/>
          <p:cNvSpPr/>
          <p:nvPr/>
        </p:nvSpPr>
        <p:spPr>
          <a:xfrm>
            <a:off x="3291840" y="1828800"/>
            <a:ext cx="2559960" cy="3196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3383280" y="1874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Accès BDD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3383280" y="22402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Note::create(), Note::where(), Tag::all()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12"/>
          <p:cNvSpPr/>
          <p:nvPr/>
        </p:nvSpPr>
        <p:spPr>
          <a:xfrm>
            <a:off x="6217920" y="1828800"/>
            <a:ext cx="255996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3"/>
          <p:cNvSpPr/>
          <p:nvPr/>
        </p:nvSpPr>
        <p:spPr>
          <a:xfrm>
            <a:off x="6217920" y="1828800"/>
            <a:ext cx="2559960" cy="31968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6309360" y="18745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État de l'UI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5"/>
          <p:cNvSpPr/>
          <p:nvPr/>
        </p:nvSpPr>
        <p:spPr>
          <a:xfrm>
            <a:off x="6309360" y="22402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$this-&gt;text, $this-&gt;tag_id, $this-&gt;notes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16"/>
          <p:cNvSpPr/>
          <p:nvPr/>
        </p:nvSpPr>
        <p:spPr>
          <a:xfrm>
            <a:off x="365760" y="3657600"/>
            <a:ext cx="255996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17"/>
          <p:cNvSpPr/>
          <p:nvPr/>
        </p:nvSpPr>
        <p:spPr>
          <a:xfrm>
            <a:off x="365760" y="3657600"/>
            <a:ext cx="2559960" cy="3196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8"/>
          <p:cNvSpPr/>
          <p:nvPr/>
        </p:nvSpPr>
        <p:spPr>
          <a:xfrm>
            <a:off x="457200" y="37033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Messages flash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9"/>
          <p:cNvSpPr/>
          <p:nvPr/>
        </p:nvSpPr>
        <p:spPr>
          <a:xfrm>
            <a:off x="457200" y="40690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session()-&gt;flash('message', ...)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20"/>
          <p:cNvSpPr/>
          <p:nvPr/>
        </p:nvSpPr>
        <p:spPr>
          <a:xfrm>
            <a:off x="3291840" y="3657600"/>
            <a:ext cx="255996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21"/>
          <p:cNvSpPr/>
          <p:nvPr/>
        </p:nvSpPr>
        <p:spPr>
          <a:xfrm>
            <a:off x="3291840" y="3657600"/>
            <a:ext cx="2559960" cy="31968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2"/>
          <p:cNvSpPr/>
          <p:nvPr/>
        </p:nvSpPr>
        <p:spPr>
          <a:xfrm>
            <a:off x="3383280" y="370332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Chargement data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3"/>
          <p:cNvSpPr/>
          <p:nvPr/>
        </p:nvSpPr>
        <p:spPr>
          <a:xfrm>
            <a:off x="3383280" y="4069080"/>
            <a:ext cx="2377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loadNotes(), refreshTags()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4"/>
          <p:cNvSpPr/>
          <p:nvPr/>
        </p:nvSpPr>
        <p:spPr>
          <a:xfrm>
            <a:off x="457200" y="548640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 Une seule classe = 5 responsabilités. Modifier la validation oblige à toucher au même fichier que la BDD.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Problème #2 — Logique métier dans le composant UI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57200" y="11887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Actuellement :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457200" y="1645920"/>
            <a:ext cx="5028840" cy="29257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548640" y="1737360"/>
            <a:ext cx="48459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Notes.php (Livewire)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save()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validate()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Note::create()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session()-&gt;flash()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loadNotes()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delete()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Note::where()-&gt;delete()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→ loadNotes()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5943600" y="11887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Conséquences :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5943600" y="1645920"/>
            <a:ext cx="576036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Impossible de réutiliser 'créer une note' depuis une API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Impossible de tester la logique métier sans UI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Si on change le framework, tout est à réécrire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Duplications inévitables si on ajoute une 2ème interface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457200" y="502920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Solution → créer un NoteService et TagService qui contiennent la logique, injectés dans les contrôleurs.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Problème #3 — Aucune API REST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457200" y="11887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routes/web.php — Routes disponibles actuellement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457200" y="1828800"/>
            <a:ext cx="1096920" cy="38376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02920" y="18745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645920" y="18745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/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4937760" y="187452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Page d'accueil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457200" y="2331720"/>
            <a:ext cx="1096920" cy="38376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502920" y="237744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645920" y="2377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/dashboard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4937760" y="237744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Dashboard (HTML Blade)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12"/>
          <p:cNvSpPr/>
          <p:nvPr/>
        </p:nvSpPr>
        <p:spPr>
          <a:xfrm>
            <a:off x="457200" y="2834640"/>
            <a:ext cx="1096920" cy="38376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502920" y="28803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1645920" y="288036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/notes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937760" y="288036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Redirige vers dashboard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6"/>
          <p:cNvSpPr/>
          <p:nvPr/>
        </p:nvSpPr>
        <p:spPr>
          <a:xfrm>
            <a:off x="457200" y="3337560"/>
            <a:ext cx="1096920" cy="38376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502920" y="33832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1645920" y="33832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/tags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4937760" y="338328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Redirige vers dashboard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20"/>
          <p:cNvSpPr/>
          <p:nvPr/>
        </p:nvSpPr>
        <p:spPr>
          <a:xfrm>
            <a:off x="457200" y="3840480"/>
            <a:ext cx="1096920" cy="383760"/>
          </a:xfrm>
          <a:prstGeom prst="rect">
            <a:avLst/>
          </a:prstGeom>
          <a:solidFill>
            <a:srgbClr val="4547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1"/>
          <p:cNvSpPr/>
          <p:nvPr/>
        </p:nvSpPr>
        <p:spPr>
          <a:xfrm>
            <a:off x="502920" y="38862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1645920" y="38862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/settings/profile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3"/>
          <p:cNvSpPr/>
          <p:nvPr/>
        </p:nvSpPr>
        <p:spPr>
          <a:xfrm>
            <a:off x="4937760" y="3886200"/>
            <a:ext cx="6400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Profil utilisateur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4"/>
          <p:cNvSpPr/>
          <p:nvPr/>
        </p:nvSpPr>
        <p:spPr>
          <a:xfrm>
            <a:off x="457200" y="45720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Zéro endpoint API. Le front React ne peut rien appeler.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5"/>
          <p:cNvSpPr/>
          <p:nvPr/>
        </p:nvSpPr>
        <p:spPr>
          <a:xfrm>
            <a:off x="457200" y="51206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Endpoints à créer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457200" y="557784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▸  GET /api/notes  ·  POST /api/notes  ·  DELETE /api/notes/{id}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▸  GET /api/tags   ·  POST /api/tags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Problème #4 — Front couplé au back (Livewire)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457200" y="11887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notes.blade.php — Vue actuelle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"/>
          <p:cNvSpPr/>
          <p:nvPr/>
        </p:nvSpPr>
        <p:spPr>
          <a:xfrm>
            <a:off x="457200" y="1645920"/>
            <a:ext cx="6400440" cy="3200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5"/>
          <p:cNvSpPr/>
          <p:nvPr/>
        </p:nvSpPr>
        <p:spPr>
          <a:xfrm>
            <a:off x="548640" y="1737360"/>
            <a:ext cx="62175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&lt;form wire:submit.prevent="save"&gt;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&lt;textarea wire:model="text"&gt;&lt;/textarea&gt;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&lt;select wire:model="tag_id"&gt;...&lt;/select&gt;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&lt;button type="submit"&gt;Add Note&lt;/button&gt;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&lt;/form&gt;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@foreach ($notes as $note)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&lt;button wire:click="delete({{$note-&gt;id}})"&gt;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Delete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&lt;/button&gt;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@endforeach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7132320" y="1645920"/>
            <a:ext cx="4571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wire:submit, wire:model, wire:click → 100% dépendant de Livewire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HTML généré côté serveur → impossible à utiliser avec React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Pas de séparation View / ViewModel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Impossible d'avoir une app mobile ou un 2ème client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5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Tout changement UI implique de modifier du PHP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457200" y="53035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Solution → remplacer les vues Blade/Livewire par des composants React qui appellent l'API REST.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Récap — Les antipatterns STUPID détectés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457200" y="128016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457200" y="1280160"/>
            <a:ext cx="72720" cy="68544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640080" y="13716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S — Singleton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3931920" y="13716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Non applicable ici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457200" y="203904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8"/>
          <p:cNvSpPr/>
          <p:nvPr/>
        </p:nvSpPr>
        <p:spPr>
          <a:xfrm>
            <a:off x="457200" y="2039040"/>
            <a:ext cx="72720" cy="68544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640080" y="21304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T — Tight Coupling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3931920" y="213048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Livewire couple UI + logique + BDD dans un seul fichier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11"/>
          <p:cNvSpPr/>
          <p:nvPr/>
        </p:nvSpPr>
        <p:spPr>
          <a:xfrm>
            <a:off x="457200" y="279792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12"/>
          <p:cNvSpPr/>
          <p:nvPr/>
        </p:nvSpPr>
        <p:spPr>
          <a:xfrm>
            <a:off x="457200" y="2797920"/>
            <a:ext cx="72720" cy="68544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13"/>
          <p:cNvSpPr/>
          <p:nvPr/>
        </p:nvSpPr>
        <p:spPr>
          <a:xfrm>
            <a:off x="640080" y="28893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U — Untestability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3931920" y="28893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Impossible de tester Notes.php sans lancer tout Laravel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5"/>
          <p:cNvSpPr/>
          <p:nvPr/>
        </p:nvSpPr>
        <p:spPr>
          <a:xfrm>
            <a:off x="457200" y="355716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6"/>
          <p:cNvSpPr/>
          <p:nvPr/>
        </p:nvSpPr>
        <p:spPr>
          <a:xfrm>
            <a:off x="457200" y="3557160"/>
            <a:ext cx="72720" cy="68544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640080" y="364860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P — Premature Optim.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8"/>
          <p:cNvSpPr/>
          <p:nvPr/>
        </p:nvSpPr>
        <p:spPr>
          <a:xfrm>
            <a:off x="3931920" y="36486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Non applicable ici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9"/>
          <p:cNvSpPr/>
          <p:nvPr/>
        </p:nvSpPr>
        <p:spPr>
          <a:xfrm>
            <a:off x="457200" y="431604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20"/>
          <p:cNvSpPr/>
          <p:nvPr/>
        </p:nvSpPr>
        <p:spPr>
          <a:xfrm>
            <a:off x="457200" y="4316040"/>
            <a:ext cx="72720" cy="68544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21"/>
          <p:cNvSpPr/>
          <p:nvPr/>
        </p:nvSpPr>
        <p:spPr>
          <a:xfrm>
            <a:off x="640080" y="440748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I — Indescriptive Names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2"/>
          <p:cNvSpPr/>
          <p:nvPr/>
        </p:nvSpPr>
        <p:spPr>
          <a:xfrm>
            <a:off x="3931920" y="440748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Noms corrects (Note, Tag, save, delete…)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23"/>
          <p:cNvSpPr/>
          <p:nvPr/>
        </p:nvSpPr>
        <p:spPr>
          <a:xfrm>
            <a:off x="457200" y="5074920"/>
            <a:ext cx="11246760" cy="6854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24"/>
          <p:cNvSpPr/>
          <p:nvPr/>
        </p:nvSpPr>
        <p:spPr>
          <a:xfrm>
            <a:off x="457200" y="5074920"/>
            <a:ext cx="72720" cy="68544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5"/>
          <p:cNvSpPr/>
          <p:nvPr/>
        </p:nvSpPr>
        <p:spPr>
          <a:xfrm>
            <a:off x="640080" y="516636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❌  D — Duplication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6"/>
          <p:cNvSpPr/>
          <p:nvPr/>
        </p:nvSpPr>
        <p:spPr>
          <a:xfrm>
            <a:off x="3931920" y="516636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Tag::all() dupliqué dans mount() et refreshTags()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Architecture cible — MVC + Services + API REST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365760" y="365760"/>
            <a:ext cx="11429640" cy="914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4"/>
          <p:cNvSpPr/>
          <p:nvPr/>
        </p:nvSpPr>
        <p:spPr>
          <a:xfrm>
            <a:off x="365760" y="365760"/>
            <a:ext cx="91080" cy="9140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594360" y="4572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FRONT (React)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594360" y="8229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Composants React + Zustand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3657600" y="59436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routes séparées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5669280" y="12801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9"/>
          <p:cNvSpPr/>
          <p:nvPr/>
        </p:nvSpPr>
        <p:spPr>
          <a:xfrm>
            <a:off x="365760" y="1828800"/>
            <a:ext cx="11429640" cy="914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10"/>
          <p:cNvSpPr/>
          <p:nvPr/>
        </p:nvSpPr>
        <p:spPr>
          <a:xfrm>
            <a:off x="365760" y="1828800"/>
            <a:ext cx="91080" cy="91404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594360" y="192024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API Layer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594360" y="22860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routes/api.php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3657600" y="205740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GET/POST/PUT/DELETE JSON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5669280" y="27432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5"/>
          <p:cNvSpPr/>
          <p:nvPr/>
        </p:nvSpPr>
        <p:spPr>
          <a:xfrm>
            <a:off x="365760" y="3017520"/>
            <a:ext cx="11429640" cy="914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16"/>
          <p:cNvSpPr/>
          <p:nvPr/>
        </p:nvSpPr>
        <p:spPr>
          <a:xfrm>
            <a:off x="365760" y="3017520"/>
            <a:ext cx="91080" cy="91404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594360" y="3108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Controllers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8"/>
          <p:cNvSpPr/>
          <p:nvPr/>
        </p:nvSpPr>
        <p:spPr>
          <a:xfrm>
            <a:off x="594360" y="34747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NoteController, TagController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9"/>
          <p:cNvSpPr/>
          <p:nvPr/>
        </p:nvSpPr>
        <p:spPr>
          <a:xfrm>
            <a:off x="3657600" y="324612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Reçoit la requête HTTP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0"/>
          <p:cNvSpPr/>
          <p:nvPr/>
        </p:nvSpPr>
        <p:spPr>
          <a:xfrm>
            <a:off x="5669280" y="39319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21"/>
          <p:cNvSpPr/>
          <p:nvPr/>
        </p:nvSpPr>
        <p:spPr>
          <a:xfrm>
            <a:off x="365760" y="4206240"/>
            <a:ext cx="11429640" cy="914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22"/>
          <p:cNvSpPr/>
          <p:nvPr/>
        </p:nvSpPr>
        <p:spPr>
          <a:xfrm>
            <a:off x="365760" y="4206240"/>
            <a:ext cx="91080" cy="91404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23"/>
          <p:cNvSpPr/>
          <p:nvPr/>
        </p:nvSpPr>
        <p:spPr>
          <a:xfrm>
            <a:off x="594360" y="42976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Services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4"/>
          <p:cNvSpPr/>
          <p:nvPr/>
        </p:nvSpPr>
        <p:spPr>
          <a:xfrm>
            <a:off x="594360" y="46634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NoteService, TagService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5"/>
          <p:cNvSpPr/>
          <p:nvPr/>
        </p:nvSpPr>
        <p:spPr>
          <a:xfrm>
            <a:off x="3657600" y="44348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Logique métier pure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6"/>
          <p:cNvSpPr/>
          <p:nvPr/>
        </p:nvSpPr>
        <p:spPr>
          <a:xfrm>
            <a:off x="5669280" y="5120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ectangle 27"/>
          <p:cNvSpPr/>
          <p:nvPr/>
        </p:nvSpPr>
        <p:spPr>
          <a:xfrm>
            <a:off x="365760" y="5394960"/>
            <a:ext cx="11429640" cy="9140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28"/>
          <p:cNvSpPr/>
          <p:nvPr/>
        </p:nvSpPr>
        <p:spPr>
          <a:xfrm>
            <a:off x="365760" y="5394960"/>
            <a:ext cx="91080" cy="9140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9"/>
          <p:cNvSpPr/>
          <p:nvPr/>
        </p:nvSpPr>
        <p:spPr>
          <a:xfrm>
            <a:off x="594360" y="54864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Models / ORM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0"/>
          <p:cNvSpPr/>
          <p:nvPr/>
        </p:nvSpPr>
        <p:spPr>
          <a:xfrm>
            <a:off x="594360" y="58521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Note, Tag, User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31"/>
          <p:cNvSpPr/>
          <p:nvPr/>
        </p:nvSpPr>
        <p:spPr>
          <a:xfrm>
            <a:off x="3657600" y="562356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Eloquent — accès BDD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Plan d'action — Ce qu'on va faire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365760" y="1188720"/>
            <a:ext cx="502560" cy="5482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411480" y="12344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1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1005840" y="12344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Créer NoteController + TagController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8046720" y="12344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app/Http/Controllers/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365760" y="1874520"/>
            <a:ext cx="502560" cy="54828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411480" y="19202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2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1005840" y="19202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Créer NoteService + TagService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8046720" y="19202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app/Services/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1"/>
          <p:cNvSpPr/>
          <p:nvPr/>
        </p:nvSpPr>
        <p:spPr>
          <a:xfrm>
            <a:off x="365760" y="2560320"/>
            <a:ext cx="502560" cy="54828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411480" y="26060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3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1005840" y="2606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Définir les routes API REST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8046720" y="26060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routes/api.php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15"/>
          <p:cNvSpPr/>
          <p:nvPr/>
        </p:nvSpPr>
        <p:spPr>
          <a:xfrm>
            <a:off x="365760" y="3246120"/>
            <a:ext cx="502560" cy="54828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411480" y="32918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7"/>
          <p:cNvSpPr/>
          <p:nvPr/>
        </p:nvSpPr>
        <p:spPr>
          <a:xfrm>
            <a:off x="1005840" y="32918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Tester les endpoints avec Postman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8046720" y="32918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GET, POST, DELETE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19"/>
          <p:cNvSpPr/>
          <p:nvPr/>
        </p:nvSpPr>
        <p:spPr>
          <a:xfrm>
            <a:off x="365760" y="3931920"/>
            <a:ext cx="502560" cy="5482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0"/>
          <p:cNvSpPr/>
          <p:nvPr/>
        </p:nvSpPr>
        <p:spPr>
          <a:xfrm>
            <a:off x="411480" y="39776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5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1"/>
          <p:cNvSpPr/>
          <p:nvPr/>
        </p:nvSpPr>
        <p:spPr>
          <a:xfrm>
            <a:off x="1005840" y="39776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Créer le front React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8046720" y="39776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resources/js/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23"/>
          <p:cNvSpPr/>
          <p:nvPr/>
        </p:nvSpPr>
        <p:spPr>
          <a:xfrm>
            <a:off x="365760" y="4617720"/>
            <a:ext cx="502560" cy="54828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411480" y="46634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6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25"/>
          <p:cNvSpPr/>
          <p:nvPr/>
        </p:nvSpPr>
        <p:spPr>
          <a:xfrm>
            <a:off x="1005840" y="46634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Connecter React à l'API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6"/>
          <p:cNvSpPr/>
          <p:nvPr/>
        </p:nvSpPr>
        <p:spPr>
          <a:xfrm>
            <a:off x="8046720" y="46634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fetch / axios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27"/>
          <p:cNvSpPr/>
          <p:nvPr/>
        </p:nvSpPr>
        <p:spPr>
          <a:xfrm>
            <a:off x="365760" y="5303520"/>
            <a:ext cx="502560" cy="5482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8"/>
          <p:cNvSpPr/>
          <p:nvPr/>
        </p:nvSpPr>
        <p:spPr>
          <a:xfrm>
            <a:off x="411480" y="5349240"/>
            <a:ext cx="41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7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9"/>
          <p:cNvSpPr/>
          <p:nvPr/>
        </p:nvSpPr>
        <p:spPr>
          <a:xfrm>
            <a:off x="1005840" y="53492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Supprimer les composants Livewire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0"/>
          <p:cNvSpPr/>
          <p:nvPr/>
        </p:nvSpPr>
        <p:spPr>
          <a:xfrm>
            <a:off x="8046720" y="53492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app/Livewire/ → obsolète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Nouveau fichier — NoteService.php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457200" y="1188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app/Services/NoteService.php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4"/>
          <p:cNvSpPr/>
          <p:nvPr/>
        </p:nvSpPr>
        <p:spPr>
          <a:xfrm>
            <a:off x="457200" y="1645920"/>
            <a:ext cx="7131960" cy="45716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594360" y="1737360"/>
            <a:ext cx="685764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class 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Récupère toutes les notes de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l'utilisateur connecté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getAllForUser()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Note::with('tag')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-&gt;where('user_id', Auth::id())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-&gt;latest()-&gt;get();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Crée une note — user_id injecté ici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create(array $data)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Note::create([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'user_id' =&gt; Auth::id(),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'tag_id'  =&gt; $data['tag_id'],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'text'    =&gt; $data['text'],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Supprime — vérifie l'appartenance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delete(int $noteId): bool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(bool) Note::where('id', $noteId)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-&gt;where('user_id', Auth::id())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-&gt;delete();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6"/>
          <p:cNvSpPr/>
          <p:nvPr/>
        </p:nvSpPr>
        <p:spPr>
          <a:xfrm>
            <a:off x="7772400" y="178308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7"/>
          <p:cNvSpPr/>
          <p:nvPr/>
        </p:nvSpPr>
        <p:spPr>
          <a:xfrm>
            <a:off x="7863840" y="18288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S — une seule responsabilité : la logique métier des notes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8"/>
          <p:cNvSpPr/>
          <p:nvPr/>
        </p:nvSpPr>
        <p:spPr>
          <a:xfrm>
            <a:off x="7772400" y="251460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9"/>
          <p:cNvSpPr/>
          <p:nvPr/>
        </p:nvSpPr>
        <p:spPr>
          <a:xfrm>
            <a:off x="7863840" y="25603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D — Auth::id() vient du framework, pas hardcodé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0"/>
          <p:cNvSpPr/>
          <p:nvPr/>
        </p:nvSpPr>
        <p:spPr>
          <a:xfrm>
            <a:off x="7772400" y="361188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1"/>
          <p:cNvSpPr/>
          <p:nvPr/>
        </p:nvSpPr>
        <p:spPr>
          <a:xfrm>
            <a:off x="7863840" y="36576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Réutilisable depuis n'importe quel contrôleur ou test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2"/>
          <p:cNvSpPr/>
          <p:nvPr/>
        </p:nvSpPr>
        <p:spPr>
          <a:xfrm>
            <a:off x="7772400" y="489204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3"/>
          <p:cNvSpPr/>
          <p:nvPr/>
        </p:nvSpPr>
        <p:spPr>
          <a:xfrm>
            <a:off x="7863840" y="493776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Sécurité : vérifie le propriétaire DANS le service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Nouveau fichier — NoteController.php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457200" y="1188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app/Http/Controllers/Api/NoteController.php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4"/>
          <p:cNvSpPr/>
          <p:nvPr/>
        </p:nvSpPr>
        <p:spPr>
          <a:xfrm>
            <a:off x="457200" y="1645920"/>
            <a:ext cx="7131960" cy="45716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5"/>
          <p:cNvSpPr/>
          <p:nvPr/>
        </p:nvSpPr>
        <p:spPr>
          <a:xfrm>
            <a:off x="594360" y="1737360"/>
            <a:ext cx="685764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class NoteController extends Controller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NoteService injecté automatiquement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par Laravel (principe D)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__construct(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private NoteService $noteService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) {}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GET /api/notes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index(): JsonResponse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$notes = $this-&gt;noteService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     -&gt;getAllForUser();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response()-&gt;json([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'status' =&gt; 'success',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'data'   =&gt; $notes,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POST /api/notes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store(Request $req)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$validated = $req-&gt;validate([...]);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$note = $this-&gt;noteService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    -&gt;create($validated);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response()-&gt;json([...], 201);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6"/>
          <p:cNvSpPr/>
          <p:nvPr/>
        </p:nvSpPr>
        <p:spPr>
          <a:xfrm>
            <a:off x="7772400" y="192024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7863840" y="196596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✅ D — pas de new NoteService() : injection auto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8"/>
          <p:cNvSpPr/>
          <p:nvPr/>
        </p:nvSpPr>
        <p:spPr>
          <a:xfrm>
            <a:off x="7772400" y="301752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9"/>
          <p:cNvSpPr/>
          <p:nvPr/>
        </p:nvSpPr>
        <p:spPr>
          <a:xfrm>
            <a:off x="7863840" y="3063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✅ S — le contrôleur ne fait que recevoir / répondre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10"/>
          <p:cNvSpPr/>
          <p:nvPr/>
        </p:nvSpPr>
        <p:spPr>
          <a:xfrm>
            <a:off x="7772400" y="393192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1"/>
          <p:cNvSpPr/>
          <p:nvPr/>
        </p:nvSpPr>
        <p:spPr>
          <a:xfrm>
            <a:off x="7863840" y="39776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✅ Réponse JSON uniforme : { status, data }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12"/>
          <p:cNvSpPr/>
          <p:nvPr/>
        </p:nvSpPr>
        <p:spPr>
          <a:xfrm>
            <a:off x="7772400" y="5029200"/>
            <a:ext cx="42973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3"/>
          <p:cNvSpPr/>
          <p:nvPr/>
        </p:nvSpPr>
        <p:spPr>
          <a:xfrm>
            <a:off x="7863840" y="50749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✅ Validation à la frontière (contrôleur), pas dans le service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Nouveau fichier — routes/api.php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3"/>
          <p:cNvSpPr/>
          <p:nvPr/>
        </p:nvSpPr>
        <p:spPr>
          <a:xfrm>
            <a:off x="457200" y="1188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Définition des 5 endpoints REST de l'API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4"/>
          <p:cNvSpPr/>
          <p:nvPr/>
        </p:nvSpPr>
        <p:spPr>
          <a:xfrm>
            <a:off x="457200" y="1691640"/>
            <a:ext cx="5943240" cy="292572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594360" y="1783080"/>
            <a:ext cx="56689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Route::middleware('auth')-&gt;group(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function ()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// 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Route::get('/notes',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[NoteController::class, 'index']);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Route::post('/notes',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[NoteController::class, 'store']);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Route::delete('/notes/{id}',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[NoteController::class, 'destroy']);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// TAGS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Route::get('/tags',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[TagController::class, 'index']);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Route::post('/tags',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[TagController::class, 'store']);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6"/>
          <p:cNvSpPr/>
          <p:nvPr/>
        </p:nvSpPr>
        <p:spPr>
          <a:xfrm>
            <a:off x="6675120" y="16916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Tableau des endpoints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7"/>
          <p:cNvSpPr/>
          <p:nvPr/>
        </p:nvSpPr>
        <p:spPr>
          <a:xfrm>
            <a:off x="6675120" y="2148840"/>
            <a:ext cx="10969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8"/>
          <p:cNvSpPr/>
          <p:nvPr/>
        </p:nvSpPr>
        <p:spPr>
          <a:xfrm>
            <a:off x="6720840" y="22219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GET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9"/>
          <p:cNvSpPr/>
          <p:nvPr/>
        </p:nvSpPr>
        <p:spPr>
          <a:xfrm>
            <a:off x="7909560" y="22219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/api/notes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0"/>
          <p:cNvSpPr/>
          <p:nvPr/>
        </p:nvSpPr>
        <p:spPr>
          <a:xfrm>
            <a:off x="10241280" y="22219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Liste les 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1"/>
          <p:cNvSpPr/>
          <p:nvPr/>
        </p:nvSpPr>
        <p:spPr>
          <a:xfrm>
            <a:off x="6675120" y="2807280"/>
            <a:ext cx="10969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12"/>
          <p:cNvSpPr/>
          <p:nvPr/>
        </p:nvSpPr>
        <p:spPr>
          <a:xfrm>
            <a:off x="6720840" y="288036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POST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3"/>
          <p:cNvSpPr/>
          <p:nvPr/>
        </p:nvSpPr>
        <p:spPr>
          <a:xfrm>
            <a:off x="7909560" y="28803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/api/notes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4"/>
          <p:cNvSpPr/>
          <p:nvPr/>
        </p:nvSpPr>
        <p:spPr>
          <a:xfrm>
            <a:off x="10241280" y="2880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Crée une note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5"/>
          <p:cNvSpPr/>
          <p:nvPr/>
        </p:nvSpPr>
        <p:spPr>
          <a:xfrm>
            <a:off x="6675120" y="3465720"/>
            <a:ext cx="10969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16"/>
          <p:cNvSpPr/>
          <p:nvPr/>
        </p:nvSpPr>
        <p:spPr>
          <a:xfrm>
            <a:off x="6720840" y="353880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DELETE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7"/>
          <p:cNvSpPr/>
          <p:nvPr/>
        </p:nvSpPr>
        <p:spPr>
          <a:xfrm>
            <a:off x="7909560" y="35388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/api/notes/{id}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8"/>
          <p:cNvSpPr/>
          <p:nvPr/>
        </p:nvSpPr>
        <p:spPr>
          <a:xfrm>
            <a:off x="10241280" y="35388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Supprime une note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9"/>
          <p:cNvSpPr/>
          <p:nvPr/>
        </p:nvSpPr>
        <p:spPr>
          <a:xfrm>
            <a:off x="6675120" y="4123800"/>
            <a:ext cx="10969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20"/>
          <p:cNvSpPr/>
          <p:nvPr/>
        </p:nvSpPr>
        <p:spPr>
          <a:xfrm>
            <a:off x="6720840" y="419724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GET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21"/>
          <p:cNvSpPr/>
          <p:nvPr/>
        </p:nvSpPr>
        <p:spPr>
          <a:xfrm>
            <a:off x="7909560" y="41972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/api/tags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2"/>
          <p:cNvSpPr/>
          <p:nvPr/>
        </p:nvSpPr>
        <p:spPr>
          <a:xfrm>
            <a:off x="10241280" y="41972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Liste les tags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23"/>
          <p:cNvSpPr/>
          <p:nvPr/>
        </p:nvSpPr>
        <p:spPr>
          <a:xfrm>
            <a:off x="6675120" y="4782240"/>
            <a:ext cx="1096920" cy="502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24"/>
          <p:cNvSpPr/>
          <p:nvPr/>
        </p:nvSpPr>
        <p:spPr>
          <a:xfrm>
            <a:off x="6720840" y="48553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POST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5"/>
          <p:cNvSpPr/>
          <p:nvPr/>
        </p:nvSpPr>
        <p:spPr>
          <a:xfrm>
            <a:off x="7909560" y="48553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/api/tags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6"/>
          <p:cNvSpPr/>
          <p:nvPr/>
        </p:nvSpPr>
        <p:spPr>
          <a:xfrm>
            <a:off x="10241280" y="48553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Crée un tag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7"/>
          <p:cNvSpPr/>
          <p:nvPr/>
        </p:nvSpPr>
        <p:spPr>
          <a:xfrm>
            <a:off x="457200" y="47548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 Tous protégés par middleware 'auth' — accès refusé sans session active.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8"/>
          <p:cNvSpPr/>
          <p:nvPr/>
        </p:nvSpPr>
        <p:spPr>
          <a:xfrm>
            <a:off x="457200" y="53035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bootstrap/app.php modifié pour enregistrer api.php sur le préfixe /api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Comparaison Avant / Après refactorisation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457200" y="11887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AVANT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457200" y="1645920"/>
            <a:ext cx="5486040" cy="43887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594360" y="1783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Notes.php : validation + BDD + UI + flash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6"/>
          <p:cNvSpPr/>
          <p:nvPr/>
        </p:nvSpPr>
        <p:spPr>
          <a:xfrm>
            <a:off x="594360" y="2350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TagForm.php : validation + création + events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594360" y="2917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Aucune route API (/api/*)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"/>
          <p:cNvSpPr/>
          <p:nvPr/>
        </p:nvSpPr>
        <p:spPr>
          <a:xfrm>
            <a:off x="594360" y="3483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HTML généré côté serveur (Livewire)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9"/>
          <p:cNvSpPr/>
          <p:nvPr/>
        </p:nvSpPr>
        <p:spPr>
          <a:xfrm>
            <a:off x="594360" y="4050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Impossible de tester sans UI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594360" y="4617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Tag::all() dupliqué dans 2 méthodes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1"/>
          <p:cNvSpPr/>
          <p:nvPr/>
        </p:nvSpPr>
        <p:spPr>
          <a:xfrm>
            <a:off x="594360" y="5184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 Front non séparable du back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2"/>
          <p:cNvSpPr/>
          <p:nvPr/>
        </p:nvSpPr>
        <p:spPr>
          <a:xfrm>
            <a:off x="6217920" y="118872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APRÈS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13"/>
          <p:cNvSpPr/>
          <p:nvPr/>
        </p:nvSpPr>
        <p:spPr>
          <a:xfrm>
            <a:off x="6217920" y="1645920"/>
            <a:ext cx="5486040" cy="43887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14"/>
          <p:cNvSpPr/>
          <p:nvPr/>
        </p:nvSpPr>
        <p:spPr>
          <a:xfrm>
            <a:off x="6355080" y="1783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NoteService : logique métier isolée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5"/>
          <p:cNvSpPr/>
          <p:nvPr/>
        </p:nvSpPr>
        <p:spPr>
          <a:xfrm>
            <a:off x="6355080" y="2350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TagService : logique métier isolée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6"/>
          <p:cNvSpPr/>
          <p:nvPr/>
        </p:nvSpPr>
        <p:spPr>
          <a:xfrm>
            <a:off x="6355080" y="29170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5 endpoints REST dans routes/api.php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7"/>
          <p:cNvSpPr/>
          <p:nvPr/>
        </p:nvSpPr>
        <p:spPr>
          <a:xfrm>
            <a:off x="6355080" y="3483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Réponses JSON uniformes { status, data }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8"/>
          <p:cNvSpPr/>
          <p:nvPr/>
        </p:nvSpPr>
        <p:spPr>
          <a:xfrm>
            <a:off x="6355080" y="4050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NoteController : reçoit HTTP, délègue, répond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9"/>
          <p:cNvSpPr/>
          <p:nvPr/>
        </p:nvSpPr>
        <p:spPr>
          <a:xfrm>
            <a:off x="6355080" y="4617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Injection de dépendances (principe D)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0"/>
          <p:cNvSpPr/>
          <p:nvPr/>
        </p:nvSpPr>
        <p:spPr>
          <a:xfrm>
            <a:off x="6355080" y="51847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 Prêt pour front React découplé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21"/>
          <p:cNvSpPr/>
          <p:nvPr/>
        </p:nvSpPr>
        <p:spPr>
          <a:xfrm>
            <a:off x="6035040" y="1188720"/>
            <a:ext cx="54360" cy="484596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Pourquoi migrer vers React ?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3"/>
          <p:cNvSpPr/>
          <p:nvPr/>
        </p:nvSpPr>
        <p:spPr>
          <a:xfrm>
            <a:off x="457200" y="128016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LIVEWIRE (avant)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4"/>
          <p:cNvSpPr/>
          <p:nvPr/>
        </p:nvSpPr>
        <p:spPr>
          <a:xfrm>
            <a:off x="6217920" y="1280160"/>
            <a:ext cx="5486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REACT (après)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5"/>
          <p:cNvSpPr/>
          <p:nvPr/>
        </p:nvSpPr>
        <p:spPr>
          <a:xfrm>
            <a:off x="6035040" y="1188720"/>
            <a:ext cx="54360" cy="502884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6"/>
          <p:cNvSpPr/>
          <p:nvPr/>
        </p:nvSpPr>
        <p:spPr>
          <a:xfrm>
            <a:off x="548640" y="178308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HTML généré côté SERVEUR 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7"/>
          <p:cNvSpPr/>
          <p:nvPr/>
        </p:nvSpPr>
        <p:spPr>
          <a:xfrm>
            <a:off x="6263640" y="178308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HTML géré côté NAVIGATEUR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8"/>
          <p:cNvSpPr/>
          <p:nvPr/>
        </p:nvSpPr>
        <p:spPr>
          <a:xfrm>
            <a:off x="548640" y="23317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Chaque interaction = aller-retour serveur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9"/>
          <p:cNvSpPr/>
          <p:nvPr/>
        </p:nvSpPr>
        <p:spPr>
          <a:xfrm>
            <a:off x="6263640" y="23317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Interactions instantanées (pas de rechargement)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0"/>
          <p:cNvSpPr/>
          <p:nvPr/>
        </p:nvSpPr>
        <p:spPr>
          <a:xfrm>
            <a:off x="548640" y="28803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wire:model / wire:submit → couplé 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6263640" y="28803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Composants JSX réutilisables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548640" y="342900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Impossible d'avoir app mobile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6263640" y="342900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Le même back peut servir web + mobile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4"/>
          <p:cNvSpPr/>
          <p:nvPr/>
        </p:nvSpPr>
        <p:spPr>
          <a:xfrm>
            <a:off x="548640" y="397764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Impossible d'avoir 2ème front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5"/>
          <p:cNvSpPr/>
          <p:nvPr/>
        </p:nvSpPr>
        <p:spPr>
          <a:xfrm>
            <a:off x="6263640" y="397764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N'importe quel front peut consommer l'API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6"/>
          <p:cNvSpPr/>
          <p:nvPr/>
        </p:nvSpPr>
        <p:spPr>
          <a:xfrm>
            <a:off x="548640" y="452628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Tests UI = tests PHP complets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6263640" y="452628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Tests UI séparés des tests 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548640" y="50749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✗  1 déploiement = tout en 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6263640" y="50749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✓  Back et front déployables indépendamment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State Management — Pourquoi Zustand ?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"/>
          <p:cNvSpPr/>
          <p:nvPr/>
        </p:nvSpPr>
        <p:spPr>
          <a:xfrm>
            <a:off x="457200" y="1188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Le problème sans state management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4"/>
          <p:cNvSpPr/>
          <p:nvPr/>
        </p:nvSpPr>
        <p:spPr>
          <a:xfrm>
            <a:off x="457200" y="160020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NoteForm et NoteList ont tous deux besoin des mêmes données (notes, tags)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Sans store partagé → il faudrait remonter l'état jusqu'au parent commun (prop drilling)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Exemple : TagForm crée un tag → NoteForm doit le voir → sans store, il faudrait tout faire remonter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5"/>
          <p:cNvSpPr/>
          <p:nvPr/>
        </p:nvSpPr>
        <p:spPr>
          <a:xfrm>
            <a:off x="457200" y="28346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Comparaison des solutions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6"/>
          <p:cNvSpPr/>
          <p:nvPr/>
        </p:nvSpPr>
        <p:spPr>
          <a:xfrm>
            <a:off x="365760" y="3291840"/>
            <a:ext cx="274284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Rectangle 7"/>
          <p:cNvSpPr/>
          <p:nvPr/>
        </p:nvSpPr>
        <p:spPr>
          <a:xfrm>
            <a:off x="365760" y="3291840"/>
            <a:ext cx="2742840" cy="3196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8"/>
          <p:cNvSpPr/>
          <p:nvPr/>
        </p:nvSpPr>
        <p:spPr>
          <a:xfrm>
            <a:off x="457200" y="331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Redux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9"/>
          <p:cNvSpPr/>
          <p:nvPr/>
        </p:nvSpPr>
        <p:spPr>
          <a:xfrm>
            <a:off x="457200" y="370332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Très puissant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Boilerplate important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Parfait pour grandes apps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0"/>
          <p:cNvSpPr/>
          <p:nvPr/>
        </p:nvSpPr>
        <p:spPr>
          <a:xfrm>
            <a:off x="457200" y="50292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Trop complexe pour ce projet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11"/>
          <p:cNvSpPr/>
          <p:nvPr/>
        </p:nvSpPr>
        <p:spPr>
          <a:xfrm>
            <a:off x="3291840" y="3291840"/>
            <a:ext cx="274284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Rectangle 12"/>
          <p:cNvSpPr/>
          <p:nvPr/>
        </p:nvSpPr>
        <p:spPr>
          <a:xfrm>
            <a:off x="3291840" y="3291840"/>
            <a:ext cx="2742840" cy="31968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13"/>
          <p:cNvSpPr/>
          <p:nvPr/>
        </p:nvSpPr>
        <p:spPr>
          <a:xfrm>
            <a:off x="3383280" y="331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Zustand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4"/>
          <p:cNvSpPr/>
          <p:nvPr/>
        </p:nvSpPr>
        <p:spPr>
          <a:xfrm>
            <a:off x="3383280" y="370332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Simple, léger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Pas de boilerplate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 intuitive (create + hooks)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5"/>
          <p:cNvSpPr/>
          <p:nvPr/>
        </p:nvSpPr>
        <p:spPr>
          <a:xfrm>
            <a:off x="3383280" y="50292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CHOIX RETENU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16"/>
          <p:cNvSpPr/>
          <p:nvPr/>
        </p:nvSpPr>
        <p:spPr>
          <a:xfrm>
            <a:off x="6217920" y="3291840"/>
            <a:ext cx="274284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Rectangle 17"/>
          <p:cNvSpPr/>
          <p:nvPr/>
        </p:nvSpPr>
        <p:spPr>
          <a:xfrm>
            <a:off x="6217920" y="3291840"/>
            <a:ext cx="2742840" cy="31968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Box 18"/>
          <p:cNvSpPr/>
          <p:nvPr/>
        </p:nvSpPr>
        <p:spPr>
          <a:xfrm>
            <a:off x="6309360" y="331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MobX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19"/>
          <p:cNvSpPr/>
          <p:nvPr/>
        </p:nvSpPr>
        <p:spPr>
          <a:xfrm>
            <a:off x="6309360" y="370332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Basé sur MVVM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Observables automatiques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Courbe d'apprentissage +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0"/>
          <p:cNvSpPr/>
          <p:nvPr/>
        </p:nvSpPr>
        <p:spPr>
          <a:xfrm>
            <a:off x="6309360" y="50292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Bien mais + complexe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21"/>
          <p:cNvSpPr/>
          <p:nvPr/>
        </p:nvSpPr>
        <p:spPr>
          <a:xfrm>
            <a:off x="9144000" y="3291840"/>
            <a:ext cx="274284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Rectangle 22"/>
          <p:cNvSpPr/>
          <p:nvPr/>
        </p:nvSpPr>
        <p:spPr>
          <a:xfrm>
            <a:off x="9144000" y="3291840"/>
            <a:ext cx="2742840" cy="3196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3"/>
          <p:cNvSpPr/>
          <p:nvPr/>
        </p:nvSpPr>
        <p:spPr>
          <a:xfrm>
            <a:off x="9235440" y="3310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Context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4"/>
          <p:cNvSpPr/>
          <p:nvPr/>
        </p:nvSpPr>
        <p:spPr>
          <a:xfrm>
            <a:off x="9235440" y="370332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Natif React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Pas de lib externe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Re-renders excessifs si mal utilisé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25"/>
          <p:cNvSpPr/>
          <p:nvPr/>
        </p:nvSpPr>
        <p:spPr>
          <a:xfrm>
            <a:off x="9235440" y="50292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⚠ Suffisant mais limité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store/useAppStore.js — Le cœur de l'état React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3"/>
          <p:cNvSpPr/>
          <p:nvPr/>
        </p:nvSpPr>
        <p:spPr>
          <a:xfrm>
            <a:off x="457200" y="1188720"/>
            <a:ext cx="6857640" cy="484596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4"/>
          <p:cNvSpPr/>
          <p:nvPr/>
        </p:nvSpPr>
        <p:spPr>
          <a:xfrm>
            <a:off x="594360" y="1280160"/>
            <a:ext cx="65833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const useAppStore = create((set) =&gt; ({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État global partagé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notes:   [],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tags:    [],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loading: false,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error:   null,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Action : charge les notes depuis l'API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fetchNotes: async () =&gt; {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set({ loading: true });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const notes = await getNotes(); // ← api.js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set({ notes, loading: false });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Action : crée une note + met à jour le store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addNote: async (text, tag_id) =&gt; {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const note = await createNote(text, tag_id);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set((state) =&gt; ({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notes: [note, ...state.notes]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}));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},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}));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5"/>
          <p:cNvSpPr/>
          <p:nvPr/>
        </p:nvSpPr>
        <p:spPr>
          <a:xfrm>
            <a:off x="7498080" y="1463040"/>
            <a:ext cx="4571640" cy="594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6"/>
          <p:cNvSpPr/>
          <p:nvPr/>
        </p:nvSpPr>
        <p:spPr>
          <a:xfrm>
            <a:off x="7498080" y="1463040"/>
            <a:ext cx="54360" cy="594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7"/>
          <p:cNvSpPr/>
          <p:nvPr/>
        </p:nvSpPr>
        <p:spPr>
          <a:xfrm>
            <a:off x="7635240" y="153612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État global : partagé entre NoteForm, NoteList, TagForm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8"/>
          <p:cNvSpPr/>
          <p:nvPr/>
        </p:nvSpPr>
        <p:spPr>
          <a:xfrm>
            <a:off x="7498080" y="2788920"/>
            <a:ext cx="4571640" cy="594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9"/>
          <p:cNvSpPr/>
          <p:nvPr/>
        </p:nvSpPr>
        <p:spPr>
          <a:xfrm>
            <a:off x="7498080" y="2788920"/>
            <a:ext cx="54360" cy="594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10"/>
          <p:cNvSpPr/>
          <p:nvPr/>
        </p:nvSpPr>
        <p:spPr>
          <a:xfrm>
            <a:off x="7635240" y="286200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Délègue à api.js — le store ne connaît pas fetch/axios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11"/>
          <p:cNvSpPr/>
          <p:nvPr/>
        </p:nvSpPr>
        <p:spPr>
          <a:xfrm>
            <a:off x="7498080" y="3337560"/>
            <a:ext cx="4571640" cy="594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Rectangle 12"/>
          <p:cNvSpPr/>
          <p:nvPr/>
        </p:nvSpPr>
        <p:spPr>
          <a:xfrm>
            <a:off x="7498080" y="3337560"/>
            <a:ext cx="54360" cy="594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TextBox 13"/>
          <p:cNvSpPr/>
          <p:nvPr/>
        </p:nvSpPr>
        <p:spPr>
          <a:xfrm>
            <a:off x="7635240" y="34106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set() met à jour l'état → tous les composants qui lisent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notes se re-rendent automatiquement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14"/>
          <p:cNvSpPr/>
          <p:nvPr/>
        </p:nvSpPr>
        <p:spPr>
          <a:xfrm>
            <a:off x="7498080" y="4251960"/>
            <a:ext cx="4571640" cy="594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15"/>
          <p:cNvSpPr/>
          <p:nvPr/>
        </p:nvSpPr>
        <p:spPr>
          <a:xfrm>
            <a:off x="7498080" y="4251960"/>
            <a:ext cx="54360" cy="594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Box 16"/>
          <p:cNvSpPr/>
          <p:nvPr/>
        </p:nvSpPr>
        <p:spPr>
          <a:xfrm>
            <a:off x="7635240" y="432504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Optimistic update : on ajoute au store sans re-fetcher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17"/>
          <p:cNvSpPr/>
          <p:nvPr/>
        </p:nvSpPr>
        <p:spPr>
          <a:xfrm>
            <a:off x="7498080" y="4892040"/>
            <a:ext cx="4571640" cy="5940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 18"/>
          <p:cNvSpPr/>
          <p:nvPr/>
        </p:nvSpPr>
        <p:spPr>
          <a:xfrm>
            <a:off x="7498080" y="4892040"/>
            <a:ext cx="54360" cy="5940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19"/>
          <p:cNvSpPr/>
          <p:nvPr/>
        </p:nvSpPr>
        <p:spPr>
          <a:xfrm>
            <a:off x="7635240" y="496512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Pattern Flux : action → store → UI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Flux de données complet — Exemple : créer une note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3"/>
          <p:cNvSpPr/>
          <p:nvPr/>
        </p:nvSpPr>
        <p:spPr>
          <a:xfrm>
            <a:off x="365760" y="1280160"/>
            <a:ext cx="456840" cy="52992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411480" y="135324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960120" y="132588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1. Utilisateur remplit le formulaire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6126480" y="132588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NoteForm.jsx — state local : setText(), setTagId()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502920" y="18288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8"/>
          <p:cNvSpPr/>
          <p:nvPr/>
        </p:nvSpPr>
        <p:spPr>
          <a:xfrm>
            <a:off x="365760" y="1938600"/>
            <a:ext cx="456840" cy="52992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9"/>
          <p:cNvSpPr/>
          <p:nvPr/>
        </p:nvSpPr>
        <p:spPr>
          <a:xfrm>
            <a:off x="411480" y="201168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0"/>
          <p:cNvSpPr/>
          <p:nvPr/>
        </p:nvSpPr>
        <p:spPr>
          <a:xfrm>
            <a:off x="960120" y="198432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2. Clic sur 'Ajouter la note'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1"/>
          <p:cNvSpPr/>
          <p:nvPr/>
        </p:nvSpPr>
        <p:spPr>
          <a:xfrm>
            <a:off x="6126480" y="198432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handleSubmit() → appelle addNote(text, tag_id) du store Zustand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2"/>
          <p:cNvSpPr/>
          <p:nvPr/>
        </p:nvSpPr>
        <p:spPr>
          <a:xfrm>
            <a:off x="502920" y="24872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3"/>
          <p:cNvSpPr/>
          <p:nvPr/>
        </p:nvSpPr>
        <p:spPr>
          <a:xfrm>
            <a:off x="365760" y="2597040"/>
            <a:ext cx="456840" cy="52992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14"/>
          <p:cNvSpPr/>
          <p:nvPr/>
        </p:nvSpPr>
        <p:spPr>
          <a:xfrm>
            <a:off x="411480" y="26701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3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5"/>
          <p:cNvSpPr/>
          <p:nvPr/>
        </p:nvSpPr>
        <p:spPr>
          <a:xfrm>
            <a:off x="960120" y="264276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3. Store appelle l'API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6"/>
          <p:cNvSpPr/>
          <p:nvPr/>
        </p:nvSpPr>
        <p:spPr>
          <a:xfrm>
            <a:off x="6126480" y="264276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useAppStore.addNote() → createNote() dans api.js → POST /api/notes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7"/>
          <p:cNvSpPr/>
          <p:nvPr/>
        </p:nvSpPr>
        <p:spPr>
          <a:xfrm>
            <a:off x="502920" y="31456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18"/>
          <p:cNvSpPr/>
          <p:nvPr/>
        </p:nvSpPr>
        <p:spPr>
          <a:xfrm>
            <a:off x="365760" y="3255120"/>
            <a:ext cx="456840" cy="52992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19"/>
          <p:cNvSpPr/>
          <p:nvPr/>
        </p:nvSpPr>
        <p:spPr>
          <a:xfrm>
            <a:off x="411480" y="332856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20"/>
          <p:cNvSpPr/>
          <p:nvPr/>
        </p:nvSpPr>
        <p:spPr>
          <a:xfrm>
            <a:off x="960120" y="330084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4. Laravel reçoit la requête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21"/>
          <p:cNvSpPr/>
          <p:nvPr/>
        </p:nvSpPr>
        <p:spPr>
          <a:xfrm>
            <a:off x="6126480" y="330084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routes/api.php → NoteController.store() → NoteService.create() → BDD SQLite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2"/>
          <p:cNvSpPr/>
          <p:nvPr/>
        </p:nvSpPr>
        <p:spPr>
          <a:xfrm>
            <a:off x="502920" y="380376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Rectangle 23"/>
          <p:cNvSpPr/>
          <p:nvPr/>
        </p:nvSpPr>
        <p:spPr>
          <a:xfrm>
            <a:off x="365760" y="3913560"/>
            <a:ext cx="456840" cy="52992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24"/>
          <p:cNvSpPr/>
          <p:nvPr/>
        </p:nvSpPr>
        <p:spPr>
          <a:xfrm>
            <a:off x="411480" y="398664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5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25"/>
          <p:cNvSpPr/>
          <p:nvPr/>
        </p:nvSpPr>
        <p:spPr>
          <a:xfrm>
            <a:off x="960120" y="395928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5. Réponse JSON 201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26"/>
          <p:cNvSpPr/>
          <p:nvPr/>
        </p:nvSpPr>
        <p:spPr>
          <a:xfrm>
            <a:off x="6126480" y="395928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{ "status": "success", "data": { id, text, tag, ... } }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27"/>
          <p:cNvSpPr/>
          <p:nvPr/>
        </p:nvSpPr>
        <p:spPr>
          <a:xfrm>
            <a:off x="502920" y="446220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28"/>
          <p:cNvSpPr/>
          <p:nvPr/>
        </p:nvSpPr>
        <p:spPr>
          <a:xfrm>
            <a:off x="365760" y="4572000"/>
            <a:ext cx="456840" cy="52992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29"/>
          <p:cNvSpPr/>
          <p:nvPr/>
        </p:nvSpPr>
        <p:spPr>
          <a:xfrm>
            <a:off x="411480" y="464508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6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30"/>
          <p:cNvSpPr/>
          <p:nvPr/>
        </p:nvSpPr>
        <p:spPr>
          <a:xfrm>
            <a:off x="960120" y="461772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6. Store met à jour l'état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31"/>
          <p:cNvSpPr/>
          <p:nvPr/>
        </p:nvSpPr>
        <p:spPr>
          <a:xfrm>
            <a:off x="6126480" y="461772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set({ notes: [newNote, ...state.notes] }) → NoteList se re-rend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32"/>
          <p:cNvSpPr/>
          <p:nvPr/>
        </p:nvSpPr>
        <p:spPr>
          <a:xfrm>
            <a:off x="502920" y="51206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↓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 33"/>
          <p:cNvSpPr/>
          <p:nvPr/>
        </p:nvSpPr>
        <p:spPr>
          <a:xfrm>
            <a:off x="365760" y="5230440"/>
            <a:ext cx="456840" cy="529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34"/>
          <p:cNvSpPr/>
          <p:nvPr/>
        </p:nvSpPr>
        <p:spPr>
          <a:xfrm>
            <a:off x="411480" y="53035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7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35"/>
          <p:cNvSpPr/>
          <p:nvPr/>
        </p:nvSpPr>
        <p:spPr>
          <a:xfrm>
            <a:off x="960120" y="5276160"/>
            <a:ext cx="5028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UI mise à jour sans rechargement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36"/>
          <p:cNvSpPr/>
          <p:nvPr/>
        </p:nvSpPr>
        <p:spPr>
          <a:xfrm>
            <a:off x="6126480" y="5276160"/>
            <a:ext cx="5851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NoteList affiche la nouvelle note en tête de liste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Box 1"/>
          <p:cNvSpPr/>
          <p:nvPr/>
        </p:nvSpPr>
        <p:spPr>
          <a:xfrm>
            <a:off x="457200" y="27432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Structure finale du projet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"/>
          <p:cNvSpPr/>
          <p:nvPr/>
        </p:nvSpPr>
        <p:spPr>
          <a:xfrm>
            <a:off x="457200" y="100584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3"/>
          <p:cNvSpPr/>
          <p:nvPr/>
        </p:nvSpPr>
        <p:spPr>
          <a:xfrm>
            <a:off x="457200" y="11887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BACK-END PHP/Laravel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4"/>
          <p:cNvSpPr/>
          <p:nvPr/>
        </p:nvSpPr>
        <p:spPr>
          <a:xfrm>
            <a:off x="457200" y="16002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app/Services/NoteService.php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5"/>
          <p:cNvSpPr/>
          <p:nvPr/>
        </p:nvSpPr>
        <p:spPr>
          <a:xfrm>
            <a:off x="2520000" y="16002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logique métier notes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6"/>
          <p:cNvSpPr/>
          <p:nvPr/>
        </p:nvSpPr>
        <p:spPr>
          <a:xfrm>
            <a:off x="457200" y="20847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app/Services/TagService.php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7"/>
          <p:cNvSpPr/>
          <p:nvPr/>
        </p:nvSpPr>
        <p:spPr>
          <a:xfrm>
            <a:off x="2340000" y="208476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logique métier tags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8"/>
          <p:cNvSpPr/>
          <p:nvPr/>
        </p:nvSpPr>
        <p:spPr>
          <a:xfrm>
            <a:off x="457200" y="25693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app/Http/Controllers/Api/NoteController.php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9"/>
          <p:cNvSpPr/>
          <p:nvPr/>
        </p:nvSpPr>
        <p:spPr>
          <a:xfrm>
            <a:off x="3240000" y="25693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contrôleur API notes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10"/>
          <p:cNvSpPr/>
          <p:nvPr/>
        </p:nvSpPr>
        <p:spPr>
          <a:xfrm>
            <a:off x="457200" y="30542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app/Http/Controllers/Api/TagController.php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11"/>
          <p:cNvSpPr/>
          <p:nvPr/>
        </p:nvSpPr>
        <p:spPr>
          <a:xfrm>
            <a:off x="3265560" y="3054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contrôleur API tags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2"/>
          <p:cNvSpPr/>
          <p:nvPr/>
        </p:nvSpPr>
        <p:spPr>
          <a:xfrm>
            <a:off x="457200" y="35388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routes/api.php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3"/>
          <p:cNvSpPr/>
          <p:nvPr/>
        </p:nvSpPr>
        <p:spPr>
          <a:xfrm>
            <a:off x="2545560" y="35388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5 endpoints REST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4"/>
          <p:cNvSpPr/>
          <p:nvPr/>
        </p:nvSpPr>
        <p:spPr>
          <a:xfrm>
            <a:off x="457200" y="402336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app/Models/Note.php + Tag.php + User.php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5"/>
          <p:cNvSpPr/>
          <p:nvPr/>
        </p:nvSpPr>
        <p:spPr>
          <a:xfrm>
            <a:off x="3265560" y="40968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✅ CONSERVÉ — modèles Eloquent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6"/>
          <p:cNvSpPr/>
          <p:nvPr/>
        </p:nvSpPr>
        <p:spPr>
          <a:xfrm>
            <a:off x="457200" y="450792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bootstrap/app.php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7"/>
          <p:cNvSpPr/>
          <p:nvPr/>
        </p:nvSpPr>
        <p:spPr>
          <a:xfrm>
            <a:off x="2340000" y="45079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 MODIFIÉ — enregistre api.php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8"/>
          <p:cNvSpPr/>
          <p:nvPr/>
        </p:nvSpPr>
        <p:spPr>
          <a:xfrm>
            <a:off x="457200" y="499248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app/Livewire/Notes.php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9"/>
          <p:cNvSpPr/>
          <p:nvPr/>
        </p:nvSpPr>
        <p:spPr>
          <a:xfrm>
            <a:off x="2365560" y="499248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🗑  OBSOLÈTE — remplacé par NoteService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0"/>
          <p:cNvSpPr/>
          <p:nvPr/>
        </p:nvSpPr>
        <p:spPr>
          <a:xfrm>
            <a:off x="457200" y="54774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app/Livewire/TagForm.php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1"/>
          <p:cNvSpPr/>
          <p:nvPr/>
        </p:nvSpPr>
        <p:spPr>
          <a:xfrm>
            <a:off x="2365560" y="547740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🗑  OBSOLÈTE — remplacé par TagService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22"/>
          <p:cNvSpPr/>
          <p:nvPr/>
        </p:nvSpPr>
        <p:spPr>
          <a:xfrm>
            <a:off x="6217920" y="11887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FRONT-END React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23"/>
          <p:cNvSpPr/>
          <p:nvPr/>
        </p:nvSpPr>
        <p:spPr>
          <a:xfrm>
            <a:off x="6217920" y="16002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resources/js/app.jsx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4"/>
          <p:cNvSpPr/>
          <p:nvPr/>
        </p:nvSpPr>
        <p:spPr>
          <a:xfrm>
            <a:off x="10058400" y="16002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point d'entrée React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25"/>
          <p:cNvSpPr/>
          <p:nvPr/>
        </p:nvSpPr>
        <p:spPr>
          <a:xfrm>
            <a:off x="6217920" y="20847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resources/js/components/App.jsx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26"/>
          <p:cNvSpPr/>
          <p:nvPr/>
        </p:nvSpPr>
        <p:spPr>
          <a:xfrm>
            <a:off x="10058400" y="20847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composant racine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7"/>
          <p:cNvSpPr/>
          <p:nvPr/>
        </p:nvSpPr>
        <p:spPr>
          <a:xfrm>
            <a:off x="6217920" y="25693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resources/js/components/NoteForm.jsx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8"/>
          <p:cNvSpPr/>
          <p:nvPr/>
        </p:nvSpPr>
        <p:spPr>
          <a:xfrm>
            <a:off x="10058400" y="25693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formulaire note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9"/>
          <p:cNvSpPr/>
          <p:nvPr/>
        </p:nvSpPr>
        <p:spPr>
          <a:xfrm>
            <a:off x="6217920" y="30542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resources/js/components/NoteList.jsx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30"/>
          <p:cNvSpPr/>
          <p:nvPr/>
        </p:nvSpPr>
        <p:spPr>
          <a:xfrm>
            <a:off x="10058400" y="305424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liste des notes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31"/>
          <p:cNvSpPr/>
          <p:nvPr/>
        </p:nvSpPr>
        <p:spPr>
          <a:xfrm>
            <a:off x="6217920" y="35388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resources/js/components/TagForm.jsx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32"/>
          <p:cNvSpPr/>
          <p:nvPr/>
        </p:nvSpPr>
        <p:spPr>
          <a:xfrm>
            <a:off x="10058400" y="35388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formulaire tag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33"/>
          <p:cNvSpPr/>
          <p:nvPr/>
        </p:nvSpPr>
        <p:spPr>
          <a:xfrm>
            <a:off x="6217920" y="40233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resources/js/store/useAppStore.js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34"/>
          <p:cNvSpPr/>
          <p:nvPr/>
        </p:nvSpPr>
        <p:spPr>
          <a:xfrm>
            <a:off x="10058400" y="402336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store Zustand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35"/>
          <p:cNvSpPr/>
          <p:nvPr/>
        </p:nvSpPr>
        <p:spPr>
          <a:xfrm>
            <a:off x="6217920" y="45079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resources/js/services/api.js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36"/>
          <p:cNvSpPr/>
          <p:nvPr/>
        </p:nvSpPr>
        <p:spPr>
          <a:xfrm>
            <a:off x="10058400" y="4507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NOUVEAU — appels API REST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7"/>
          <p:cNvSpPr/>
          <p:nvPr/>
        </p:nvSpPr>
        <p:spPr>
          <a:xfrm>
            <a:off x="6217920" y="499248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vite.config.js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38"/>
          <p:cNvSpPr/>
          <p:nvPr/>
        </p:nvSpPr>
        <p:spPr>
          <a:xfrm>
            <a:off x="10058400" y="499248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 MODIFIÉ — plugin React JSX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39"/>
          <p:cNvSpPr/>
          <p:nvPr/>
        </p:nvSpPr>
        <p:spPr>
          <a:xfrm>
            <a:off x="6217920" y="547740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views/dashboard.blade.php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40"/>
          <p:cNvSpPr/>
          <p:nvPr/>
        </p:nvSpPr>
        <p:spPr>
          <a:xfrm>
            <a:off x="10058400" y="547740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⚠  MODIFIÉ — monte React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41"/>
          <p:cNvSpPr/>
          <p:nvPr/>
        </p:nvSpPr>
        <p:spPr>
          <a:xfrm>
            <a:off x="6035040" y="1188720"/>
            <a:ext cx="54360" cy="484596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Les 5 principes SOLID — rappel complet</a:t>
            </a:r>
            <a:endParaRPr lang="fr-F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3"/>
          <p:cNvSpPr/>
          <p:nvPr/>
        </p:nvSpPr>
        <p:spPr>
          <a:xfrm>
            <a:off x="457200" y="1051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Applicables à tout langage OOP — PHP, Java, C#, Python…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4"/>
          <p:cNvSpPr/>
          <p:nvPr/>
        </p:nvSpPr>
        <p:spPr>
          <a:xfrm>
            <a:off x="320040" y="1554480"/>
            <a:ext cx="2212560" cy="49374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5"/>
          <p:cNvSpPr/>
          <p:nvPr/>
        </p:nvSpPr>
        <p:spPr>
          <a:xfrm>
            <a:off x="320040" y="1554480"/>
            <a:ext cx="2212560" cy="45684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6"/>
          <p:cNvSpPr/>
          <p:nvPr/>
        </p:nvSpPr>
        <p:spPr>
          <a:xfrm>
            <a:off x="393120" y="1572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S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7"/>
          <p:cNvSpPr/>
          <p:nvPr/>
        </p:nvSpPr>
        <p:spPr>
          <a:xfrm>
            <a:off x="777240" y="160020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Single Responsibility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8"/>
          <p:cNvSpPr/>
          <p:nvPr/>
        </p:nvSpPr>
        <p:spPr>
          <a:xfrm>
            <a:off x="411480" y="21031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Une classe = une seule raison de changer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9"/>
          <p:cNvSpPr/>
          <p:nvPr/>
        </p:nvSpPr>
        <p:spPr>
          <a:xfrm>
            <a:off x="411480" y="2788920"/>
            <a:ext cx="205704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10"/>
          <p:cNvSpPr/>
          <p:nvPr/>
        </p:nvSpPr>
        <p:spPr>
          <a:xfrm>
            <a:off x="411480" y="28803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Dans Renote :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1"/>
          <p:cNvSpPr/>
          <p:nvPr/>
        </p:nvSpPr>
        <p:spPr>
          <a:xfrm>
            <a:off x="411480" y="3200400"/>
            <a:ext cx="2057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NoteService ne fait que la logique notes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NoteController ne fait que gérer HTTP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 (Model) ne fait qu'accéder à la BDD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12"/>
          <p:cNvSpPr/>
          <p:nvPr/>
        </p:nvSpPr>
        <p:spPr>
          <a:xfrm>
            <a:off x="2624400" y="1554480"/>
            <a:ext cx="2212560" cy="49374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Rectangle 13"/>
          <p:cNvSpPr/>
          <p:nvPr/>
        </p:nvSpPr>
        <p:spPr>
          <a:xfrm>
            <a:off x="2624400" y="1554480"/>
            <a:ext cx="2212560" cy="456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14"/>
          <p:cNvSpPr/>
          <p:nvPr/>
        </p:nvSpPr>
        <p:spPr>
          <a:xfrm>
            <a:off x="2697480" y="1572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O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15"/>
          <p:cNvSpPr/>
          <p:nvPr/>
        </p:nvSpPr>
        <p:spPr>
          <a:xfrm>
            <a:off x="3081600" y="160020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Open / Closed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16"/>
          <p:cNvSpPr/>
          <p:nvPr/>
        </p:nvSpPr>
        <p:spPr>
          <a:xfrm>
            <a:off x="2715840" y="21031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Ouvert à l'extension, fermé à la modification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17"/>
          <p:cNvSpPr/>
          <p:nvPr/>
        </p:nvSpPr>
        <p:spPr>
          <a:xfrm>
            <a:off x="2715840" y="2788920"/>
            <a:ext cx="205704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18"/>
          <p:cNvSpPr/>
          <p:nvPr/>
        </p:nvSpPr>
        <p:spPr>
          <a:xfrm>
            <a:off x="2715840" y="28803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Dans Renote :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19"/>
          <p:cNvSpPr/>
          <p:nvPr/>
        </p:nvSpPr>
        <p:spPr>
          <a:xfrm>
            <a:off x="2715840" y="3200400"/>
            <a:ext cx="2057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Ajouter un TagService n'oblige pas à modifier NoteService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Ajouter un endpoint n'oblige pas à modifier les autres contrôleurs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20"/>
          <p:cNvSpPr/>
          <p:nvPr/>
        </p:nvSpPr>
        <p:spPr>
          <a:xfrm>
            <a:off x="4928760" y="1554480"/>
            <a:ext cx="2212560" cy="49374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Rectangle 21"/>
          <p:cNvSpPr/>
          <p:nvPr/>
        </p:nvSpPr>
        <p:spPr>
          <a:xfrm>
            <a:off x="4928760" y="1554480"/>
            <a:ext cx="2212560" cy="45684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22"/>
          <p:cNvSpPr/>
          <p:nvPr/>
        </p:nvSpPr>
        <p:spPr>
          <a:xfrm>
            <a:off x="5001840" y="1572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L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3"/>
          <p:cNvSpPr/>
          <p:nvPr/>
        </p:nvSpPr>
        <p:spPr>
          <a:xfrm>
            <a:off x="5385960" y="160020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Liskov Substitution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24"/>
          <p:cNvSpPr/>
          <p:nvPr/>
        </p:nvSpPr>
        <p:spPr>
          <a:xfrm>
            <a:off x="5020200" y="21031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Une sous-classe doit pouvoir remplacer sa classe parente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25"/>
          <p:cNvSpPr/>
          <p:nvPr/>
        </p:nvSpPr>
        <p:spPr>
          <a:xfrm>
            <a:off x="5020200" y="2788920"/>
            <a:ext cx="205704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26"/>
          <p:cNvSpPr/>
          <p:nvPr/>
        </p:nvSpPr>
        <p:spPr>
          <a:xfrm>
            <a:off x="5020200" y="28803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Dans Renote :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27"/>
          <p:cNvSpPr/>
          <p:nvPr/>
        </p:nvSpPr>
        <p:spPr>
          <a:xfrm>
            <a:off x="5020200" y="3200400"/>
            <a:ext cx="2057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Non directement appliqué ici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Mais respecté : NoteController extends Controller sans casser les comportements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28"/>
          <p:cNvSpPr/>
          <p:nvPr/>
        </p:nvSpPr>
        <p:spPr>
          <a:xfrm>
            <a:off x="7232760" y="1554480"/>
            <a:ext cx="2212560" cy="49374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Rectangle 29"/>
          <p:cNvSpPr/>
          <p:nvPr/>
        </p:nvSpPr>
        <p:spPr>
          <a:xfrm>
            <a:off x="7232760" y="1554480"/>
            <a:ext cx="2212560" cy="45684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30"/>
          <p:cNvSpPr/>
          <p:nvPr/>
        </p:nvSpPr>
        <p:spPr>
          <a:xfrm>
            <a:off x="7306200" y="1572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I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31"/>
          <p:cNvSpPr/>
          <p:nvPr/>
        </p:nvSpPr>
        <p:spPr>
          <a:xfrm>
            <a:off x="7689960" y="160020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Interface Segregation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32"/>
          <p:cNvSpPr/>
          <p:nvPr/>
        </p:nvSpPr>
        <p:spPr>
          <a:xfrm>
            <a:off x="7324200" y="21031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 pas forcer une classe à implémenter ce dont elle n'a pas besoin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33"/>
          <p:cNvSpPr/>
          <p:nvPr/>
        </p:nvSpPr>
        <p:spPr>
          <a:xfrm>
            <a:off x="7324200" y="2788920"/>
            <a:ext cx="2057040" cy="3636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34"/>
          <p:cNvSpPr/>
          <p:nvPr/>
        </p:nvSpPr>
        <p:spPr>
          <a:xfrm>
            <a:off x="7324200" y="28803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Dans Renote :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35"/>
          <p:cNvSpPr/>
          <p:nvPr/>
        </p:nvSpPr>
        <p:spPr>
          <a:xfrm>
            <a:off x="7324200" y="3200400"/>
            <a:ext cx="2057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NoteController n'expose que les routes notes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TagController n'expose que les routes tags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Pas de méthode inutile dans les services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36"/>
          <p:cNvSpPr/>
          <p:nvPr/>
        </p:nvSpPr>
        <p:spPr>
          <a:xfrm>
            <a:off x="9537120" y="1554480"/>
            <a:ext cx="2212560" cy="49374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Rectangle 37"/>
          <p:cNvSpPr/>
          <p:nvPr/>
        </p:nvSpPr>
        <p:spPr>
          <a:xfrm>
            <a:off x="9537120" y="1554480"/>
            <a:ext cx="2212560" cy="45684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8"/>
          <p:cNvSpPr/>
          <p:nvPr/>
        </p:nvSpPr>
        <p:spPr>
          <a:xfrm>
            <a:off x="9610200" y="1572840"/>
            <a:ext cx="365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D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39"/>
          <p:cNvSpPr/>
          <p:nvPr/>
        </p:nvSpPr>
        <p:spPr>
          <a:xfrm>
            <a:off x="9994320" y="160020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Dependency Inversion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40"/>
          <p:cNvSpPr/>
          <p:nvPr/>
        </p:nvSpPr>
        <p:spPr>
          <a:xfrm>
            <a:off x="9628560" y="21031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Dépendre des abstractions, pas des implémentations concrètes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41"/>
          <p:cNvSpPr/>
          <p:nvPr/>
        </p:nvSpPr>
        <p:spPr>
          <a:xfrm>
            <a:off x="9628560" y="2788920"/>
            <a:ext cx="205704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42"/>
          <p:cNvSpPr/>
          <p:nvPr/>
        </p:nvSpPr>
        <p:spPr>
          <a:xfrm>
            <a:off x="9628560" y="2880360"/>
            <a:ext cx="2057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Dans Renote :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43"/>
          <p:cNvSpPr/>
          <p:nvPr/>
        </p:nvSpPr>
        <p:spPr>
          <a:xfrm>
            <a:off x="9628560" y="3200400"/>
            <a:ext cx="2057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NoteController reçoit NoteService via constructeur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Laravel injecte automatiquement — pas de new NoteService()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api.js est l'abstraction pour les composants React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Le pattern MVC — comment il s'applique à Renote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Rectangle 3"/>
          <p:cNvSpPr/>
          <p:nvPr/>
        </p:nvSpPr>
        <p:spPr>
          <a:xfrm>
            <a:off x="365760" y="1280160"/>
            <a:ext cx="320004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Rectangle 4"/>
          <p:cNvSpPr/>
          <p:nvPr/>
        </p:nvSpPr>
        <p:spPr>
          <a:xfrm>
            <a:off x="365760" y="1280160"/>
            <a:ext cx="109440" cy="155412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5"/>
          <p:cNvSpPr/>
          <p:nvPr/>
        </p:nvSpPr>
        <p:spPr>
          <a:xfrm>
            <a:off x="594360" y="13716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M  MODEL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6"/>
          <p:cNvSpPr/>
          <p:nvPr/>
        </p:nvSpPr>
        <p:spPr>
          <a:xfrm>
            <a:off x="594360" y="17830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app/Models/Note.php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app/Models/Tag.php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app/Models/User.php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7"/>
          <p:cNvSpPr/>
          <p:nvPr/>
        </p:nvSpPr>
        <p:spPr>
          <a:xfrm>
            <a:off x="365760" y="3200400"/>
            <a:ext cx="320004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Rectangle 8"/>
          <p:cNvSpPr/>
          <p:nvPr/>
        </p:nvSpPr>
        <p:spPr>
          <a:xfrm>
            <a:off x="365760" y="3200400"/>
            <a:ext cx="109440" cy="155412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9"/>
          <p:cNvSpPr/>
          <p:nvPr/>
        </p:nvSpPr>
        <p:spPr>
          <a:xfrm>
            <a:off x="594360" y="32918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V  VIEW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Box 10"/>
          <p:cNvSpPr/>
          <p:nvPr/>
        </p:nvSpPr>
        <p:spPr>
          <a:xfrm>
            <a:off x="594360" y="37033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resources/js/components/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App.jsx · NoteForm.jsx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NoteList.jsx · TagForm.jsx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11"/>
          <p:cNvSpPr/>
          <p:nvPr/>
        </p:nvSpPr>
        <p:spPr>
          <a:xfrm>
            <a:off x="365760" y="5029200"/>
            <a:ext cx="3200040" cy="15541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Rectangle 12"/>
          <p:cNvSpPr/>
          <p:nvPr/>
        </p:nvSpPr>
        <p:spPr>
          <a:xfrm>
            <a:off x="365760" y="5029200"/>
            <a:ext cx="109440" cy="155412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TextBox 13"/>
          <p:cNvSpPr/>
          <p:nvPr/>
        </p:nvSpPr>
        <p:spPr>
          <a:xfrm>
            <a:off x="594360" y="51206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  CONTROLLER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4"/>
          <p:cNvSpPr/>
          <p:nvPr/>
        </p:nvSpPr>
        <p:spPr>
          <a:xfrm>
            <a:off x="594360" y="55321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app/Http/Controllers/Api/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NoteController.php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TagController.php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15"/>
          <p:cNvSpPr/>
          <p:nvPr/>
        </p:nvSpPr>
        <p:spPr>
          <a:xfrm>
            <a:off x="640080" y="2926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↕  queries / data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Box 16"/>
          <p:cNvSpPr/>
          <p:nvPr/>
        </p:nvSpPr>
        <p:spPr>
          <a:xfrm>
            <a:off x="640080" y="4754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↕  JSON responses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Rectangle 17"/>
          <p:cNvSpPr/>
          <p:nvPr/>
        </p:nvSpPr>
        <p:spPr>
          <a:xfrm>
            <a:off x="4023360" y="1280160"/>
            <a:ext cx="8046360" cy="53031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TextBox 18"/>
          <p:cNvSpPr/>
          <p:nvPr/>
        </p:nvSpPr>
        <p:spPr>
          <a:xfrm>
            <a:off x="4206240" y="137160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Pourquoi MVC ?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19"/>
          <p:cNvSpPr/>
          <p:nvPr/>
        </p:nvSpPr>
        <p:spPr>
          <a:xfrm>
            <a:off x="4114800" y="1874520"/>
            <a:ext cx="54360" cy="7311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TextBox 20"/>
          <p:cNvSpPr/>
          <p:nvPr/>
        </p:nvSpPr>
        <p:spPr>
          <a:xfrm>
            <a:off x="4297680" y="18745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Séparation des responsabilités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21"/>
          <p:cNvSpPr/>
          <p:nvPr/>
        </p:nvSpPr>
        <p:spPr>
          <a:xfrm>
            <a:off x="4297680" y="222192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Chaque couche a un rôle clair. Changer le design (View)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n'oblige pas à modifier la logique (Controller/Model).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22"/>
          <p:cNvSpPr/>
          <p:nvPr/>
        </p:nvSpPr>
        <p:spPr>
          <a:xfrm>
            <a:off x="4114800" y="2770560"/>
            <a:ext cx="54360" cy="7311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23"/>
          <p:cNvSpPr/>
          <p:nvPr/>
        </p:nvSpPr>
        <p:spPr>
          <a:xfrm>
            <a:off x="4297680" y="277056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Maintenabilité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24"/>
          <p:cNvSpPr/>
          <p:nvPr/>
        </p:nvSpPr>
        <p:spPr>
          <a:xfrm>
            <a:off x="4297680" y="31179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Un bug dans l'affichage → on regarde les composants React.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Un bug de données → on regarde les Models/Services.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25"/>
          <p:cNvSpPr/>
          <p:nvPr/>
        </p:nvSpPr>
        <p:spPr>
          <a:xfrm>
            <a:off x="4114800" y="3666600"/>
            <a:ext cx="54360" cy="7311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TextBox 26"/>
          <p:cNvSpPr/>
          <p:nvPr/>
        </p:nvSpPr>
        <p:spPr>
          <a:xfrm>
            <a:off x="4297680" y="366660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Testabilité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27"/>
          <p:cNvSpPr/>
          <p:nvPr/>
        </p:nvSpPr>
        <p:spPr>
          <a:xfrm>
            <a:off x="4297680" y="40143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On peut tester NoteService sans lancer Laravel.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On peut tester NoteList sans avoir de back-end.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Rectangle 28"/>
          <p:cNvSpPr/>
          <p:nvPr/>
        </p:nvSpPr>
        <p:spPr>
          <a:xfrm>
            <a:off x="4114800" y="4563000"/>
            <a:ext cx="54360" cy="7311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Box 29"/>
          <p:cNvSpPr/>
          <p:nvPr/>
        </p:nvSpPr>
        <p:spPr>
          <a:xfrm>
            <a:off x="4297680" y="456300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Extension facile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30"/>
          <p:cNvSpPr/>
          <p:nvPr/>
        </p:nvSpPr>
        <p:spPr>
          <a:xfrm>
            <a:off x="4297680" y="491040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Ajouter un endpoint = créer une méthode dans le Controller.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Ajouter une relation = modifier uniquement le Model.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Rectangle 31"/>
          <p:cNvSpPr/>
          <p:nvPr/>
        </p:nvSpPr>
        <p:spPr>
          <a:xfrm>
            <a:off x="4114800" y="5459040"/>
            <a:ext cx="54360" cy="7311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4" name="TextBox 32"/>
          <p:cNvSpPr/>
          <p:nvPr/>
        </p:nvSpPr>
        <p:spPr>
          <a:xfrm>
            <a:off x="4297680" y="545904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Note sur les Services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33"/>
          <p:cNvSpPr/>
          <p:nvPr/>
        </p:nvSpPr>
        <p:spPr>
          <a:xfrm>
            <a:off x="4297680" y="580644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Dans Renote on ajoute une couche Service entre Controller et Model.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C'est du MVC+ (ou MVC avec Service Layer) — meilleure pratique SOLID.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Le pattern Observer — 'papa' du MVC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8" name="TextBox 3"/>
          <p:cNvSpPr/>
          <p:nvPr/>
        </p:nvSpPr>
        <p:spPr>
          <a:xfrm>
            <a:off x="457200" y="10972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Le pattern Observer définit une relation 1-à-N entre objets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quand l'objet observé (Subject) change d'état, tous ses observateurs (Observers) sont notifiés automatiquement.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4"/>
          <p:cNvSpPr/>
          <p:nvPr/>
        </p:nvSpPr>
        <p:spPr>
          <a:xfrm>
            <a:off x="457200" y="1828800"/>
            <a:ext cx="3200040" cy="10969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5"/>
          <p:cNvSpPr/>
          <p:nvPr/>
        </p:nvSpPr>
        <p:spPr>
          <a:xfrm>
            <a:off x="594360" y="18745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SUBJECT (Observable)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6"/>
          <p:cNvSpPr/>
          <p:nvPr/>
        </p:nvSpPr>
        <p:spPr>
          <a:xfrm>
            <a:off x="594360" y="22860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setState()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notifyObservers()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Rectangle 7"/>
          <p:cNvSpPr/>
          <p:nvPr/>
        </p:nvSpPr>
        <p:spPr>
          <a:xfrm>
            <a:off x="4572000" y="1828800"/>
            <a:ext cx="2102760" cy="10969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TextBox 8"/>
          <p:cNvSpPr/>
          <p:nvPr/>
        </p:nvSpPr>
        <p:spPr>
          <a:xfrm>
            <a:off x="4709160" y="1965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Observer A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9"/>
          <p:cNvSpPr/>
          <p:nvPr/>
        </p:nvSpPr>
        <p:spPr>
          <a:xfrm>
            <a:off x="470916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update()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0"/>
          <p:cNvSpPr/>
          <p:nvPr/>
        </p:nvSpPr>
        <p:spPr>
          <a:xfrm>
            <a:off x="3749040" y="22402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─────────→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Rectangle 11"/>
          <p:cNvSpPr/>
          <p:nvPr/>
        </p:nvSpPr>
        <p:spPr>
          <a:xfrm>
            <a:off x="7040880" y="1828800"/>
            <a:ext cx="2102760" cy="10969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TextBox 12"/>
          <p:cNvSpPr/>
          <p:nvPr/>
        </p:nvSpPr>
        <p:spPr>
          <a:xfrm>
            <a:off x="7178040" y="1965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Observer B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13"/>
          <p:cNvSpPr/>
          <p:nvPr/>
        </p:nvSpPr>
        <p:spPr>
          <a:xfrm>
            <a:off x="717804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update()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4"/>
          <p:cNvSpPr/>
          <p:nvPr/>
        </p:nvSpPr>
        <p:spPr>
          <a:xfrm>
            <a:off x="6217920" y="22402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─────────→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15"/>
          <p:cNvSpPr/>
          <p:nvPr/>
        </p:nvSpPr>
        <p:spPr>
          <a:xfrm>
            <a:off x="9509760" y="1828800"/>
            <a:ext cx="2102760" cy="10969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16"/>
          <p:cNvSpPr/>
          <p:nvPr/>
        </p:nvSpPr>
        <p:spPr>
          <a:xfrm>
            <a:off x="9646920" y="19659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Observer C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17"/>
          <p:cNvSpPr/>
          <p:nvPr/>
        </p:nvSpPr>
        <p:spPr>
          <a:xfrm>
            <a:off x="964692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update()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18"/>
          <p:cNvSpPr/>
          <p:nvPr/>
        </p:nvSpPr>
        <p:spPr>
          <a:xfrm>
            <a:off x="8686800" y="22402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─────────→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19"/>
          <p:cNvSpPr/>
          <p:nvPr/>
        </p:nvSpPr>
        <p:spPr>
          <a:xfrm>
            <a:off x="457200" y="301752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Observer pur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Rectangle 20"/>
          <p:cNvSpPr/>
          <p:nvPr/>
        </p:nvSpPr>
        <p:spPr>
          <a:xfrm>
            <a:off x="457200" y="3337560"/>
            <a:ext cx="11246760" cy="3636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TextBox 21"/>
          <p:cNvSpPr/>
          <p:nvPr/>
        </p:nvSpPr>
        <p:spPr>
          <a:xfrm>
            <a:off x="457200" y="34747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Dans MVC, l'Observer devient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Rectangle 22"/>
          <p:cNvSpPr/>
          <p:nvPr/>
        </p:nvSpPr>
        <p:spPr>
          <a:xfrm>
            <a:off x="457200" y="3931920"/>
            <a:ext cx="356580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Rectangle 23"/>
          <p:cNvSpPr/>
          <p:nvPr/>
        </p:nvSpPr>
        <p:spPr>
          <a:xfrm>
            <a:off x="457200" y="3931920"/>
            <a:ext cx="3565800" cy="3654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24"/>
          <p:cNvSpPr/>
          <p:nvPr/>
        </p:nvSpPr>
        <p:spPr>
          <a:xfrm>
            <a:off x="594360" y="39592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MODEL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25"/>
          <p:cNvSpPr/>
          <p:nvPr/>
        </p:nvSpPr>
        <p:spPr>
          <a:xfrm>
            <a:off x="594360" y="438912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 Subject (Observable)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Contient les données.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Notifie quand les données changent.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26"/>
          <p:cNvSpPr/>
          <p:nvPr/>
        </p:nvSpPr>
        <p:spPr>
          <a:xfrm>
            <a:off x="4297680" y="3931920"/>
            <a:ext cx="356580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Rectangle 27"/>
          <p:cNvSpPr/>
          <p:nvPr/>
        </p:nvSpPr>
        <p:spPr>
          <a:xfrm>
            <a:off x="4297680" y="3931920"/>
            <a:ext cx="3565800" cy="36540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28"/>
          <p:cNvSpPr/>
          <p:nvPr/>
        </p:nvSpPr>
        <p:spPr>
          <a:xfrm>
            <a:off x="4434840" y="39592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VIEW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29"/>
          <p:cNvSpPr/>
          <p:nvPr/>
        </p:nvSpPr>
        <p:spPr>
          <a:xfrm>
            <a:off x="4434840" y="438912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 Observer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S'abonne au Model.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 met à jour automatiquement quand le Model change.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30"/>
          <p:cNvSpPr/>
          <p:nvPr/>
        </p:nvSpPr>
        <p:spPr>
          <a:xfrm>
            <a:off x="8138160" y="3931920"/>
            <a:ext cx="3565800" cy="228564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Rectangle 31"/>
          <p:cNvSpPr/>
          <p:nvPr/>
        </p:nvSpPr>
        <p:spPr>
          <a:xfrm>
            <a:off x="8138160" y="3931920"/>
            <a:ext cx="3565800" cy="36540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TextBox 32"/>
          <p:cNvSpPr/>
          <p:nvPr/>
        </p:nvSpPr>
        <p:spPr>
          <a:xfrm>
            <a:off x="8275320" y="39592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CONTROLLER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33"/>
          <p:cNvSpPr/>
          <p:nvPr/>
        </p:nvSpPr>
        <p:spPr>
          <a:xfrm>
            <a:off x="8275320" y="4389120"/>
            <a:ext cx="3291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= Intermédiaire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Reçoit les actions utilisateur.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 à jour le Model.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34"/>
          <p:cNvSpPr/>
          <p:nvPr/>
        </p:nvSpPr>
        <p:spPr>
          <a:xfrm>
            <a:off x="457200" y="635508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Dans Renote : Zustand joue le rôle du Subject Observer — les composants React sont les Observers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Conventions REST — comment on les applique dans Renote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3"/>
          <p:cNvSpPr/>
          <p:nvPr/>
        </p:nvSpPr>
        <p:spPr>
          <a:xfrm>
            <a:off x="457200" y="1097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Les verbes HTTP et leur sémantique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4"/>
          <p:cNvSpPr/>
          <p:nvPr/>
        </p:nvSpPr>
        <p:spPr>
          <a:xfrm>
            <a:off x="457200" y="1554480"/>
            <a:ext cx="1279800" cy="4384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TextBox 5"/>
          <p:cNvSpPr/>
          <p:nvPr/>
        </p:nvSpPr>
        <p:spPr>
          <a:xfrm>
            <a:off x="502920" y="161856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GET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6"/>
          <p:cNvSpPr/>
          <p:nvPr/>
        </p:nvSpPr>
        <p:spPr>
          <a:xfrm>
            <a:off x="1920240" y="161856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Lecture seule — ne modifie rien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7"/>
          <p:cNvSpPr/>
          <p:nvPr/>
        </p:nvSpPr>
        <p:spPr>
          <a:xfrm>
            <a:off x="6217920" y="161856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/api/notes → liste toutes les notes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Rectangle 8"/>
          <p:cNvSpPr/>
          <p:nvPr/>
        </p:nvSpPr>
        <p:spPr>
          <a:xfrm>
            <a:off x="457200" y="2084760"/>
            <a:ext cx="1279800" cy="4384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8" name="TextBox 9"/>
          <p:cNvSpPr/>
          <p:nvPr/>
        </p:nvSpPr>
        <p:spPr>
          <a:xfrm>
            <a:off x="502920" y="21488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POST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10"/>
          <p:cNvSpPr/>
          <p:nvPr/>
        </p:nvSpPr>
        <p:spPr>
          <a:xfrm>
            <a:off x="1920240" y="21488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Création d'une ressource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11"/>
          <p:cNvSpPr/>
          <p:nvPr/>
        </p:nvSpPr>
        <p:spPr>
          <a:xfrm>
            <a:off x="6217920" y="214884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/api/notes → crée une note (body JSON requis)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Rectangle 12"/>
          <p:cNvSpPr/>
          <p:nvPr/>
        </p:nvSpPr>
        <p:spPr>
          <a:xfrm>
            <a:off x="457200" y="2615040"/>
            <a:ext cx="1279800" cy="4384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2" name="TextBox 13"/>
          <p:cNvSpPr/>
          <p:nvPr/>
        </p:nvSpPr>
        <p:spPr>
          <a:xfrm>
            <a:off x="502920" y="267912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PUT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4"/>
          <p:cNvSpPr/>
          <p:nvPr/>
        </p:nvSpPr>
        <p:spPr>
          <a:xfrm>
            <a:off x="1920240" y="267912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Remplacement complet d'une ressource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15"/>
          <p:cNvSpPr/>
          <p:nvPr/>
        </p:nvSpPr>
        <p:spPr>
          <a:xfrm>
            <a:off x="6217920" y="267912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/api/notes/1 → remplace la note 1 (non utilisé ici)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Rectangle 16"/>
          <p:cNvSpPr/>
          <p:nvPr/>
        </p:nvSpPr>
        <p:spPr>
          <a:xfrm>
            <a:off x="457200" y="3145680"/>
            <a:ext cx="1279800" cy="4384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6" name="TextBox 17"/>
          <p:cNvSpPr/>
          <p:nvPr/>
        </p:nvSpPr>
        <p:spPr>
          <a:xfrm>
            <a:off x="502920" y="320940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PATCH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18"/>
          <p:cNvSpPr/>
          <p:nvPr/>
        </p:nvSpPr>
        <p:spPr>
          <a:xfrm>
            <a:off x="1920240" y="320940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Modification partielle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19"/>
          <p:cNvSpPr/>
          <p:nvPr/>
        </p:nvSpPr>
        <p:spPr>
          <a:xfrm>
            <a:off x="6217920" y="320940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/api/notes/1 → modifie le texte seulement (non utilisé ici)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Rectangle 20"/>
          <p:cNvSpPr/>
          <p:nvPr/>
        </p:nvSpPr>
        <p:spPr>
          <a:xfrm>
            <a:off x="457200" y="3675960"/>
            <a:ext cx="1279800" cy="4384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21"/>
          <p:cNvSpPr/>
          <p:nvPr/>
        </p:nvSpPr>
        <p:spPr>
          <a:xfrm>
            <a:off x="502920" y="3740040"/>
            <a:ext cx="1188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DELETE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22"/>
          <p:cNvSpPr/>
          <p:nvPr/>
        </p:nvSpPr>
        <p:spPr>
          <a:xfrm>
            <a:off x="1920240" y="374004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Suppression d'une ressource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23"/>
          <p:cNvSpPr/>
          <p:nvPr/>
        </p:nvSpPr>
        <p:spPr>
          <a:xfrm>
            <a:off x="6217920" y="3740040"/>
            <a:ext cx="5486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/api/notes/1 → supprime la note 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Rectangle 24"/>
          <p:cNvSpPr/>
          <p:nvPr/>
        </p:nvSpPr>
        <p:spPr>
          <a:xfrm>
            <a:off x="457200" y="425196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TextBox 25"/>
          <p:cNvSpPr/>
          <p:nvPr/>
        </p:nvSpPr>
        <p:spPr>
          <a:xfrm>
            <a:off x="457200" y="43891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Codes HTTP de réponse utilisés dans l'API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Rectangle 26"/>
          <p:cNvSpPr/>
          <p:nvPr/>
        </p:nvSpPr>
        <p:spPr>
          <a:xfrm>
            <a:off x="457200" y="4846320"/>
            <a:ext cx="1371240" cy="5025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TextBox 27"/>
          <p:cNvSpPr/>
          <p:nvPr/>
        </p:nvSpPr>
        <p:spPr>
          <a:xfrm>
            <a:off x="548640" y="491940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200 OK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28"/>
          <p:cNvSpPr/>
          <p:nvPr/>
        </p:nvSpPr>
        <p:spPr>
          <a:xfrm>
            <a:off x="1965960" y="491940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Requête réussie (GET, DELETE)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29"/>
          <p:cNvSpPr/>
          <p:nvPr/>
        </p:nvSpPr>
        <p:spPr>
          <a:xfrm>
            <a:off x="4297680" y="4846320"/>
            <a:ext cx="1371240" cy="5025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30"/>
          <p:cNvSpPr/>
          <p:nvPr/>
        </p:nvSpPr>
        <p:spPr>
          <a:xfrm>
            <a:off x="4389120" y="491940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201 Created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31"/>
          <p:cNvSpPr/>
          <p:nvPr/>
        </p:nvSpPr>
        <p:spPr>
          <a:xfrm>
            <a:off x="5806440" y="491940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Ressource créée (POST réussi)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32"/>
          <p:cNvSpPr/>
          <p:nvPr/>
        </p:nvSpPr>
        <p:spPr>
          <a:xfrm>
            <a:off x="8138160" y="4846320"/>
            <a:ext cx="1371240" cy="5025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TextBox 33"/>
          <p:cNvSpPr/>
          <p:nvPr/>
        </p:nvSpPr>
        <p:spPr>
          <a:xfrm>
            <a:off x="8229600" y="491940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400 Bad Request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Box 34"/>
          <p:cNvSpPr/>
          <p:nvPr/>
        </p:nvSpPr>
        <p:spPr>
          <a:xfrm>
            <a:off x="9646920" y="491940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Données invalides (validation échouée)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Rectangle 35"/>
          <p:cNvSpPr/>
          <p:nvPr/>
        </p:nvSpPr>
        <p:spPr>
          <a:xfrm>
            <a:off x="457200" y="5486400"/>
            <a:ext cx="1371240" cy="5025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TextBox 36"/>
          <p:cNvSpPr/>
          <p:nvPr/>
        </p:nvSpPr>
        <p:spPr>
          <a:xfrm>
            <a:off x="548640" y="555948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401 Unauthorized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37"/>
          <p:cNvSpPr/>
          <p:nvPr/>
        </p:nvSpPr>
        <p:spPr>
          <a:xfrm>
            <a:off x="1965960" y="55594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Non authentifié (pas de session)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Rectangle 38"/>
          <p:cNvSpPr/>
          <p:nvPr/>
        </p:nvSpPr>
        <p:spPr>
          <a:xfrm>
            <a:off x="4297680" y="5486400"/>
            <a:ext cx="1371240" cy="5025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TextBox 39"/>
          <p:cNvSpPr/>
          <p:nvPr/>
        </p:nvSpPr>
        <p:spPr>
          <a:xfrm>
            <a:off x="4389120" y="555948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404 Not Found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Box 40"/>
          <p:cNvSpPr/>
          <p:nvPr/>
        </p:nvSpPr>
        <p:spPr>
          <a:xfrm>
            <a:off x="5806440" y="55594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Ressource inexistante ou accès refusé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Rectangle 41"/>
          <p:cNvSpPr/>
          <p:nvPr/>
        </p:nvSpPr>
        <p:spPr>
          <a:xfrm>
            <a:off x="8138160" y="5486400"/>
            <a:ext cx="1371240" cy="50256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42"/>
          <p:cNvSpPr/>
          <p:nvPr/>
        </p:nvSpPr>
        <p:spPr>
          <a:xfrm>
            <a:off x="8229600" y="5559480"/>
            <a:ext cx="1188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422 Unprocessable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43"/>
          <p:cNvSpPr/>
          <p:nvPr/>
        </p:nvSpPr>
        <p:spPr>
          <a:xfrm>
            <a:off x="9646920" y="55594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Validation Laravel — champ manquant/invalide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Injection de dépendances — principe D en profondeur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TextBox 3"/>
          <p:cNvSpPr/>
          <p:nvPr/>
        </p:nvSpPr>
        <p:spPr>
          <a:xfrm>
            <a:off x="457200" y="1097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❌ SANS injection (couplage fort)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4"/>
          <p:cNvSpPr/>
          <p:nvPr/>
        </p:nvSpPr>
        <p:spPr>
          <a:xfrm>
            <a:off x="457200" y="1508760"/>
            <a:ext cx="5303160" cy="22856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5"/>
          <p:cNvSpPr/>
          <p:nvPr/>
        </p:nvSpPr>
        <p:spPr>
          <a:xfrm>
            <a:off x="594360" y="1600200"/>
            <a:ext cx="50288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class NoteController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public function index()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  // ❌ Crée lui-même sa dépendance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  $service = new NoteService();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  $notes = $service-&gt;getAllForUser();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  ...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6"/>
          <p:cNvSpPr/>
          <p:nvPr/>
        </p:nvSpPr>
        <p:spPr>
          <a:xfrm>
            <a:off x="6400800" y="10972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✅ AVEC injection (couplage faible)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7"/>
          <p:cNvSpPr/>
          <p:nvPr/>
        </p:nvSpPr>
        <p:spPr>
          <a:xfrm>
            <a:off x="6400800" y="1508760"/>
            <a:ext cx="5303160" cy="22856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0" name="TextBox 8"/>
          <p:cNvSpPr/>
          <p:nvPr/>
        </p:nvSpPr>
        <p:spPr>
          <a:xfrm>
            <a:off x="6537960" y="1600200"/>
            <a:ext cx="50288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class NoteController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✅ Laravel injecte 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automatiquement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public function __construct(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  private NoteService $noteService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) {}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public function index()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  $notes = $this-&gt;noteService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             -&gt;getAllForUser();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Rectangle 9"/>
          <p:cNvSpPr/>
          <p:nvPr/>
        </p:nvSpPr>
        <p:spPr>
          <a:xfrm>
            <a:off x="6035040" y="1097280"/>
            <a:ext cx="54360" cy="269712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2" name="Rectangle 10"/>
          <p:cNvSpPr/>
          <p:nvPr/>
        </p:nvSpPr>
        <p:spPr>
          <a:xfrm>
            <a:off x="457200" y="3931920"/>
            <a:ext cx="11246760" cy="3636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TextBox 11"/>
          <p:cNvSpPr/>
          <p:nvPr/>
        </p:nvSpPr>
        <p:spPr>
          <a:xfrm>
            <a:off x="457200" y="4069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Pourquoi l'injection de dépendances est cruciale :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12"/>
          <p:cNvSpPr/>
          <p:nvPr/>
        </p:nvSpPr>
        <p:spPr>
          <a:xfrm>
            <a:off x="457200" y="4526280"/>
            <a:ext cx="3565800" cy="20113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Rectangle 13"/>
          <p:cNvSpPr/>
          <p:nvPr/>
        </p:nvSpPr>
        <p:spPr>
          <a:xfrm>
            <a:off x="457200" y="4526280"/>
            <a:ext cx="3565800" cy="3196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TextBox 14"/>
          <p:cNvSpPr/>
          <p:nvPr/>
        </p:nvSpPr>
        <p:spPr>
          <a:xfrm>
            <a:off x="594360" y="4544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Testabilité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15"/>
          <p:cNvSpPr/>
          <p:nvPr/>
        </p:nvSpPr>
        <p:spPr>
          <a:xfrm>
            <a:off x="594360" y="4919400"/>
            <a:ext cx="32914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Sans injection : impossible de tester NoteController sans une vraie BDD.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Avec injection : on peut passer un NoteService 'fake' dans les tests unitaires.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16"/>
          <p:cNvSpPr/>
          <p:nvPr/>
        </p:nvSpPr>
        <p:spPr>
          <a:xfrm>
            <a:off x="4297680" y="4526280"/>
            <a:ext cx="3565800" cy="20113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Rectangle 17"/>
          <p:cNvSpPr/>
          <p:nvPr/>
        </p:nvSpPr>
        <p:spPr>
          <a:xfrm>
            <a:off x="4297680" y="4526280"/>
            <a:ext cx="3565800" cy="3196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TextBox 18"/>
          <p:cNvSpPr/>
          <p:nvPr/>
        </p:nvSpPr>
        <p:spPr>
          <a:xfrm>
            <a:off x="4434840" y="4544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Flexibilité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9"/>
          <p:cNvSpPr/>
          <p:nvPr/>
        </p:nvSpPr>
        <p:spPr>
          <a:xfrm>
            <a:off x="4434840" y="4919400"/>
            <a:ext cx="32914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Demain on veut changer NoteService par NoteServiceV2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 change une seule ligne (le binding dans AppServiceProvider), pas chaque contrôleur.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20"/>
          <p:cNvSpPr/>
          <p:nvPr/>
        </p:nvSpPr>
        <p:spPr>
          <a:xfrm>
            <a:off x="8138160" y="4526280"/>
            <a:ext cx="3565800" cy="201132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Rectangle 21"/>
          <p:cNvSpPr/>
          <p:nvPr/>
        </p:nvSpPr>
        <p:spPr>
          <a:xfrm>
            <a:off x="8138160" y="4526280"/>
            <a:ext cx="3565800" cy="31968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22"/>
          <p:cNvSpPr/>
          <p:nvPr/>
        </p:nvSpPr>
        <p:spPr>
          <a:xfrm>
            <a:off x="8275320" y="454464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1e2e"/>
                </a:solidFill>
                <a:effectLst/>
                <a:uFillTx/>
                <a:latin typeface="Calibri"/>
              </a:rPr>
              <a:t>Lisibilité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23"/>
          <p:cNvSpPr/>
          <p:nvPr/>
        </p:nvSpPr>
        <p:spPr>
          <a:xfrm>
            <a:off x="8275320" y="4919400"/>
            <a:ext cx="32914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 constructeur liste explicitement toutes les dépendances d'une classe.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 sait immédiatement de quoi NoteController a besoin pour fonctionner.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TagService.php + TagController.php — vue complète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8" name="TextBox 3"/>
          <p:cNvSpPr/>
          <p:nvPr/>
        </p:nvSpPr>
        <p:spPr>
          <a:xfrm>
            <a:off x="457200" y="10972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app/Services/TagService.php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4"/>
          <p:cNvSpPr/>
          <p:nvPr/>
        </p:nvSpPr>
        <p:spPr>
          <a:xfrm>
            <a:off x="457200" y="1463040"/>
            <a:ext cx="5303160" cy="292572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5"/>
          <p:cNvSpPr/>
          <p:nvPr/>
        </p:nvSpPr>
        <p:spPr>
          <a:xfrm>
            <a:off x="594360" y="1554480"/>
            <a:ext cx="5028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class TagService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Retourne tous les tags (globaux)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Pas lié à un user — tags partagés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public function getAll()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  return Tag::all();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Crée un tag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Validation faite en amont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// dans le Controller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public function create(array $data)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{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  return Tag::create(['name' =&gt; $data['name']]);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 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6"/>
          <p:cNvSpPr/>
          <p:nvPr/>
        </p:nvSpPr>
        <p:spPr>
          <a:xfrm>
            <a:off x="5943600" y="10972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app/Http/Controllers/Api/TagController.php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7"/>
          <p:cNvSpPr/>
          <p:nvPr/>
        </p:nvSpPr>
        <p:spPr>
          <a:xfrm>
            <a:off x="5943600" y="1463040"/>
            <a:ext cx="5760360" cy="292572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8"/>
          <p:cNvSpPr/>
          <p:nvPr/>
        </p:nvSpPr>
        <p:spPr>
          <a:xfrm>
            <a:off x="6080760" y="1554480"/>
            <a:ext cx="54860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class TagController extends Controller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Injection automatique Laravel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__construct(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private TagService $tagService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) {}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GET /api/tags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index(): JsonResponse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response()-&gt;json([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'status' =&gt; 'success',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'data'   =&gt; $this-&gt;tagService-&gt;getAll(),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]);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POST /api/tags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public function store(Request $req)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$v = $req-&gt;validate([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'name' =&gt; 'required|max:50|unique:tags,name'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]);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return response()-&gt;json([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'data' =&gt; $this-&gt;tagService-&gt;create($v)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], 201);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Rectangle 9"/>
          <p:cNvSpPr/>
          <p:nvPr/>
        </p:nvSpPr>
        <p:spPr>
          <a:xfrm>
            <a:off x="457200" y="452628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10"/>
          <p:cNvSpPr/>
          <p:nvPr/>
        </p:nvSpPr>
        <p:spPr>
          <a:xfrm>
            <a:off x="457200" y="46634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Points clés à retenir :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11"/>
          <p:cNvSpPr/>
          <p:nvPr/>
        </p:nvSpPr>
        <p:spPr>
          <a:xfrm>
            <a:off x="457200" y="5074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TagService.getAll() ne filtre pas par user — les tags sont globaux (contrairement aux notes)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2"/>
          <p:cNvSpPr/>
          <p:nvPr/>
        </p:nvSpPr>
        <p:spPr>
          <a:xfrm>
            <a:off x="6126480" y="50749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La validation 'unique:tags,name' est dans le Controller, pas dans le Service (frontière système)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13"/>
          <p:cNvSpPr/>
          <p:nvPr/>
        </p:nvSpPr>
        <p:spPr>
          <a:xfrm>
            <a:off x="457200" y="56235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Même pattern que NoteController : injection → validation → délègue → répond JSON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Box 14"/>
          <p:cNvSpPr/>
          <p:nvPr/>
        </p:nvSpPr>
        <p:spPr>
          <a:xfrm>
            <a:off x="6126480" y="56235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Les deux contrôleurs héritent de Controller (base Laravel) — accès aux helpers response(), etc.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services/api.js — La couche d'accès API côté React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ectangle 3"/>
          <p:cNvSpPr/>
          <p:nvPr/>
        </p:nvSpPr>
        <p:spPr>
          <a:xfrm>
            <a:off x="457200" y="1097280"/>
            <a:ext cx="5668920" cy="50288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4"/>
          <p:cNvSpPr/>
          <p:nvPr/>
        </p:nvSpPr>
        <p:spPr>
          <a:xfrm>
            <a:off x="594360" y="1188720"/>
            <a:ext cx="539460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// Instance axios partagée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const api = axios.create({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baseURL: '/api',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withCredentials: true,  // cookie session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headers: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'X-CSRF-TOKEN': document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.querySelector('meta[name=csrf-token]')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?.content,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},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// GET /api/notes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export const getNotes = async () =&gt;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res = await api.get('/notes');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return res.data.data;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// POST /api/notes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export const createNote = async (text, tag_id) =&gt;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res = await api.post('/notes', { text, tag_id });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return res.data.data;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// DELETE /api/notes/{id}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export const deleteNote = async (id) =&gt;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await api.delete(`/notes/${id}`);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5"/>
          <p:cNvSpPr/>
          <p:nvPr/>
        </p:nvSpPr>
        <p:spPr>
          <a:xfrm>
            <a:off x="6309360" y="123444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Rectangle 6"/>
          <p:cNvSpPr/>
          <p:nvPr/>
        </p:nvSpPr>
        <p:spPr>
          <a:xfrm>
            <a:off x="6309360" y="123444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6" name="TextBox 7"/>
          <p:cNvSpPr/>
          <p:nvPr/>
        </p:nvSpPr>
        <p:spPr>
          <a:xfrm>
            <a:off x="6446520" y="130752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Principe D : les composants dépendent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ces fonctions, pas de axios directement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Rectangle 8"/>
          <p:cNvSpPr/>
          <p:nvPr/>
        </p:nvSpPr>
        <p:spPr>
          <a:xfrm>
            <a:off x="6309360" y="187452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8" name="Rectangle 9"/>
          <p:cNvSpPr/>
          <p:nvPr/>
        </p:nvSpPr>
        <p:spPr>
          <a:xfrm>
            <a:off x="6309360" y="187452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10"/>
          <p:cNvSpPr/>
          <p:nvPr/>
        </p:nvSpPr>
        <p:spPr>
          <a:xfrm>
            <a:off x="6446520" y="194760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withCredentials: true → envoie le cookie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session Laravel avec chaque requête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11"/>
          <p:cNvSpPr/>
          <p:nvPr/>
        </p:nvSpPr>
        <p:spPr>
          <a:xfrm>
            <a:off x="6309360" y="246888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Rectangle 12"/>
          <p:cNvSpPr/>
          <p:nvPr/>
        </p:nvSpPr>
        <p:spPr>
          <a:xfrm>
            <a:off x="6309360" y="246888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TextBox 13"/>
          <p:cNvSpPr/>
          <p:nvPr/>
        </p:nvSpPr>
        <p:spPr>
          <a:xfrm>
            <a:off x="6446520" y="254196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CSRF token lu dans le HTML Blade → obligatoire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pour POST/DELETE sinon Laravel rejette (419)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Rectangle 14"/>
          <p:cNvSpPr/>
          <p:nvPr/>
        </p:nvSpPr>
        <p:spPr>
          <a:xfrm>
            <a:off x="6309360" y="324612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Rectangle 15"/>
          <p:cNvSpPr/>
          <p:nvPr/>
        </p:nvSpPr>
        <p:spPr>
          <a:xfrm>
            <a:off x="6309360" y="324612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TextBox 16"/>
          <p:cNvSpPr/>
          <p:nvPr/>
        </p:nvSpPr>
        <p:spPr>
          <a:xfrm>
            <a:off x="6446520" y="331920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Chaque fonction = un seul endpoint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Principe S : une responsabilité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Rectangle 17"/>
          <p:cNvSpPr/>
          <p:nvPr/>
        </p:nvSpPr>
        <p:spPr>
          <a:xfrm>
            <a:off x="6309360" y="406908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7" name="Rectangle 18"/>
          <p:cNvSpPr/>
          <p:nvPr/>
        </p:nvSpPr>
        <p:spPr>
          <a:xfrm>
            <a:off x="6309360" y="406908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19"/>
          <p:cNvSpPr/>
          <p:nvPr/>
        </p:nvSpPr>
        <p:spPr>
          <a:xfrm>
            <a:off x="6446520" y="414216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res.data.data → on extrait data du JSON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{ status, data: [...] }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Rectangle 20"/>
          <p:cNvSpPr/>
          <p:nvPr/>
        </p:nvSpPr>
        <p:spPr>
          <a:xfrm>
            <a:off x="6309360" y="5074920"/>
            <a:ext cx="5486040" cy="65808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0" name="Rectangle 21"/>
          <p:cNvSpPr/>
          <p:nvPr/>
        </p:nvSpPr>
        <p:spPr>
          <a:xfrm>
            <a:off x="6309360" y="5074920"/>
            <a:ext cx="63720" cy="65808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TextBox 22"/>
          <p:cNvSpPr/>
          <p:nvPr/>
        </p:nvSpPr>
        <p:spPr>
          <a:xfrm>
            <a:off x="6446520" y="5148000"/>
            <a:ext cx="5257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Même pattern pour tags :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getTags(), createTag(name)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Composants React — NoteForm.jsx + NoteList.jsx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3"/>
          <p:cNvSpPr/>
          <p:nvPr/>
        </p:nvSpPr>
        <p:spPr>
          <a:xfrm>
            <a:off x="457200" y="10972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NoteForm.jsx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4"/>
          <p:cNvSpPr/>
          <p:nvPr/>
        </p:nvSpPr>
        <p:spPr>
          <a:xfrm>
            <a:off x="457200" y="1463040"/>
            <a:ext cx="5303160" cy="36572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6" name="TextBox 5"/>
          <p:cNvSpPr/>
          <p:nvPr/>
        </p:nvSpPr>
        <p:spPr>
          <a:xfrm>
            <a:off x="594360" y="1554480"/>
            <a:ext cx="50288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export default function NoteForm()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État LOCAL du form (non partagé)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[text, setText] = useState('');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[tagId, setTagId] = useState('');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Sélecteurs ciblés dans le store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→ re-render seulement si ces valeurs changent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tags    = useAppStore(s =&gt; s.tags);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addNote = useAppStore(s =&gt; s.addNote);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loading = useAppStore(s =&gt; s.loading);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handleSubmit = async (e) =&gt;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e.preventDefault();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// Délègue au store, pas de fetch ici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await addNote(text, parseInt(tagId));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setText(''); setTagId(''); // reset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return &lt;form onSubmit={handleSubmit}&gt;...&lt;/form&gt;;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6"/>
          <p:cNvSpPr/>
          <p:nvPr/>
        </p:nvSpPr>
        <p:spPr>
          <a:xfrm>
            <a:off x="5943600" y="10972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NoteList.jsx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7"/>
          <p:cNvSpPr/>
          <p:nvPr/>
        </p:nvSpPr>
        <p:spPr>
          <a:xfrm>
            <a:off x="5943600" y="1463040"/>
            <a:ext cx="5760360" cy="365724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9" name="TextBox 8"/>
          <p:cNvSpPr/>
          <p:nvPr/>
        </p:nvSpPr>
        <p:spPr>
          <a:xfrm>
            <a:off x="6080760" y="1554480"/>
            <a:ext cx="54860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export default function NoteList()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notes      = useAppStore(s =&gt; s.notes);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loading    = useAppStore(s =&gt; s.loading);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fetchNotes = useAppStore(s =&gt; s.fetchNotes);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const removeNote = useAppStore(s =&gt; s.removeNote);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useEffect = componentDidMount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// [] = s'exécute 1 seule fois au montage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useEffect(() =&gt; {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fetchNotes(); // → GET /api/notes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}, []);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return (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&lt;div&gt;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{notes.map(note =&gt; (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&lt;div key={note.id}&gt;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&lt;p&gt;{note.text}&lt;/p&gt;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&lt;span&gt;{note.tag?.name}&lt;/span&gt;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&lt;button onClick={() =&gt; removeNote(note.id)}&gt;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  Supprimer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  &lt;/button&gt;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  &lt;/div&gt;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  ))}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  &lt;/div&gt;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  );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}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9"/>
          <p:cNvSpPr/>
          <p:nvPr/>
        </p:nvSpPr>
        <p:spPr>
          <a:xfrm>
            <a:off x="457200" y="5257800"/>
            <a:ext cx="11246760" cy="3636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TextBox 10"/>
          <p:cNvSpPr/>
          <p:nvPr/>
        </p:nvSpPr>
        <p:spPr>
          <a:xfrm>
            <a:off x="457200" y="5394960"/>
            <a:ext cx="5668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État local vs store : text/tagId sont locaux (form) — notes/tags sont globaux (partagés entre composants)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Box 11"/>
          <p:cNvSpPr/>
          <p:nvPr/>
        </p:nvSpPr>
        <p:spPr>
          <a:xfrm>
            <a:off x="6309360" y="5394960"/>
            <a:ext cx="5668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note.tag?.name → opérateur ?. (optional chaining) : si tag est null, n'explose pas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12"/>
          <p:cNvSpPr/>
          <p:nvPr/>
        </p:nvSpPr>
        <p:spPr>
          <a:xfrm>
            <a:off x="457200" y="5897880"/>
            <a:ext cx="5668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useEffect(fn, []) : le [] vide = dépendances vides = exécution unique au montage du composant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13"/>
          <p:cNvSpPr/>
          <p:nvPr/>
        </p:nvSpPr>
        <p:spPr>
          <a:xfrm>
            <a:off x="6309360" y="5897880"/>
            <a:ext cx="5668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▸  Sélecteurs ciblés useAppStore(s =&gt; s.notes) : Zustand ne re-rend que si notes change, pas tout le store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Questions que votre mentor peut poser — et les réponses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Rectangle 3"/>
          <p:cNvSpPr/>
          <p:nvPr/>
        </p:nvSpPr>
        <p:spPr>
          <a:xfrm>
            <a:off x="365760" y="114300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8" name="Rectangle 4"/>
          <p:cNvSpPr/>
          <p:nvPr/>
        </p:nvSpPr>
        <p:spPr>
          <a:xfrm>
            <a:off x="365760" y="114300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9" name="TextBox 5"/>
          <p:cNvSpPr/>
          <p:nvPr/>
        </p:nvSpPr>
        <p:spPr>
          <a:xfrm>
            <a:off x="502920" y="125280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Pourquoi un Service et pas directement dans le Controller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Rectangle 6"/>
          <p:cNvSpPr/>
          <p:nvPr/>
        </p:nvSpPr>
        <p:spPr>
          <a:xfrm>
            <a:off x="457200" y="180144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1" name="TextBox 7"/>
          <p:cNvSpPr/>
          <p:nvPr/>
        </p:nvSpPr>
        <p:spPr>
          <a:xfrm>
            <a:off x="502920" y="189288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Le Controller a pour rôle de gérer HTTP (recevoir/répondre). Si on met la logique dedans, on viole le S de SOLID. Le Service est réutilisable depuis n'importe où (API, tests, CLI).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Rectangle 8"/>
          <p:cNvSpPr/>
          <p:nvPr/>
        </p:nvSpPr>
        <p:spPr>
          <a:xfrm>
            <a:off x="6217920" y="114300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Rectangle 9"/>
          <p:cNvSpPr/>
          <p:nvPr/>
        </p:nvSpPr>
        <p:spPr>
          <a:xfrm>
            <a:off x="6217920" y="114300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10"/>
          <p:cNvSpPr/>
          <p:nvPr/>
        </p:nvSpPr>
        <p:spPr>
          <a:xfrm>
            <a:off x="6355080" y="125280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Quelle est la différence entre MVC et ce qu'on a fait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Rectangle 11"/>
          <p:cNvSpPr/>
          <p:nvPr/>
        </p:nvSpPr>
        <p:spPr>
          <a:xfrm>
            <a:off x="6309360" y="180144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TextBox 12"/>
          <p:cNvSpPr/>
          <p:nvPr/>
        </p:nvSpPr>
        <p:spPr>
          <a:xfrm>
            <a:off x="6355080" y="189288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On a fait MVC + Service Layer. Dans un MVC pur, le Controller parle directement au Model. Ici on ajoute une couche Service entre les deux pour isoler la logique métier.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13"/>
          <p:cNvSpPr/>
          <p:nvPr/>
        </p:nvSpPr>
        <p:spPr>
          <a:xfrm>
            <a:off x="365760" y="292608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Rectangle 14"/>
          <p:cNvSpPr/>
          <p:nvPr/>
        </p:nvSpPr>
        <p:spPr>
          <a:xfrm>
            <a:off x="365760" y="292608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Box 15"/>
          <p:cNvSpPr/>
          <p:nvPr/>
        </p:nvSpPr>
        <p:spPr>
          <a:xfrm>
            <a:off x="502920" y="30358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Pourquoi Zustand plutôt que Redux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Rectangle 16"/>
          <p:cNvSpPr/>
          <p:nvPr/>
        </p:nvSpPr>
        <p:spPr>
          <a:xfrm>
            <a:off x="457200" y="358452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TextBox 17"/>
          <p:cNvSpPr/>
          <p:nvPr/>
        </p:nvSpPr>
        <p:spPr>
          <a:xfrm>
            <a:off x="502920" y="367596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Redux exige actions/reducers/dispatch séparés — trop de boilerplate pour un projet de cette taille. Zustand fait la même chose en 10x moins de code. Le pattern Flux reste le même.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Rectangle 18"/>
          <p:cNvSpPr/>
          <p:nvPr/>
        </p:nvSpPr>
        <p:spPr>
          <a:xfrm>
            <a:off x="6217920" y="292608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Rectangle 19"/>
          <p:cNvSpPr/>
          <p:nvPr/>
        </p:nvSpPr>
        <p:spPr>
          <a:xfrm>
            <a:off x="6217920" y="292608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4" name="TextBox 20"/>
          <p:cNvSpPr/>
          <p:nvPr/>
        </p:nvSpPr>
        <p:spPr>
          <a:xfrm>
            <a:off x="6355080" y="30358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Comment fonctionne l'authentification dans l'API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21"/>
          <p:cNvSpPr/>
          <p:nvPr/>
        </p:nvSpPr>
        <p:spPr>
          <a:xfrm>
            <a:off x="6309360" y="358452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22"/>
          <p:cNvSpPr/>
          <p:nvPr/>
        </p:nvSpPr>
        <p:spPr>
          <a:xfrm>
            <a:off x="6355080" y="367596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Le middleware 'auth' de Laravel vérifie la session cookie existante. Axios envoie le cookie automatiquement via withCredentials:true. Le token CSRF protège contre les attaques CSRF sur les POST/DELETE.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Rectangle 23"/>
          <p:cNvSpPr/>
          <p:nvPr/>
        </p:nvSpPr>
        <p:spPr>
          <a:xfrm>
            <a:off x="365760" y="470916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Rectangle 24"/>
          <p:cNvSpPr/>
          <p:nvPr/>
        </p:nvSpPr>
        <p:spPr>
          <a:xfrm>
            <a:off x="365760" y="470916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25"/>
          <p:cNvSpPr/>
          <p:nvPr/>
        </p:nvSpPr>
        <p:spPr>
          <a:xfrm>
            <a:off x="502920" y="481896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Qu'est-ce que l'inversion de dépendances concrètement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Rectangle 26"/>
          <p:cNvSpPr/>
          <p:nvPr/>
        </p:nvSpPr>
        <p:spPr>
          <a:xfrm>
            <a:off x="457200" y="536760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1" name="TextBox 27"/>
          <p:cNvSpPr/>
          <p:nvPr/>
        </p:nvSpPr>
        <p:spPr>
          <a:xfrm>
            <a:off x="502920" y="545904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NoteController ne fait pas new NoteService(). Il déclare en constructeur qu'il a BESOIN d'un NoteService. Laravel le crée et l'injecte. On dépend de l'abstraction, pas de l'implémentation.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Rectangle 28"/>
          <p:cNvSpPr/>
          <p:nvPr/>
        </p:nvSpPr>
        <p:spPr>
          <a:xfrm>
            <a:off x="6217920" y="4709160"/>
            <a:ext cx="5486040" cy="164556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Rectangle 29"/>
          <p:cNvSpPr/>
          <p:nvPr/>
        </p:nvSpPr>
        <p:spPr>
          <a:xfrm>
            <a:off x="6217920" y="4709160"/>
            <a:ext cx="5486040" cy="5436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30"/>
          <p:cNvSpPr/>
          <p:nvPr/>
        </p:nvSpPr>
        <p:spPr>
          <a:xfrm>
            <a:off x="6355080" y="481896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Q : Quels fichiers Livewire peut-on supprimer maintenant ?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Rectangle 31"/>
          <p:cNvSpPr/>
          <p:nvPr/>
        </p:nvSpPr>
        <p:spPr>
          <a:xfrm>
            <a:off x="6309360" y="5367600"/>
            <a:ext cx="5303160" cy="1800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6" name="TextBox 32"/>
          <p:cNvSpPr/>
          <p:nvPr/>
        </p:nvSpPr>
        <p:spPr>
          <a:xfrm>
            <a:off x="6355080" y="5459040"/>
            <a:ext cx="5211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 : app/Livewire/Notes.php et app/Livewire/TagForm.php sont obsolètes. Les vues livewire/notes.blade.php et livewire/tag-form.blade.php aussi. On les garde pour l'instant pour ne pas casser la migration progressive.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Box 1"/>
          <p:cNvSpPr/>
          <p:nvPr/>
        </p:nvSpPr>
        <p:spPr>
          <a:xfrm>
            <a:off x="457200" y="27432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Pistes d'amélioration — aller plus loin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Rectangle 2"/>
          <p:cNvSpPr/>
          <p:nvPr/>
        </p:nvSpPr>
        <p:spPr>
          <a:xfrm>
            <a:off x="457200" y="960120"/>
            <a:ext cx="11246760" cy="36360"/>
          </a:xfrm>
          <a:prstGeom prst="rect">
            <a:avLst/>
          </a:prstGeom>
          <a:solidFill>
            <a:srgbClr val="bac2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9" name="TextBox 3"/>
          <p:cNvSpPr/>
          <p:nvPr/>
        </p:nvSpPr>
        <p:spPr>
          <a:xfrm>
            <a:off x="457200" y="1051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ac2de"/>
                </a:solidFill>
                <a:effectLst/>
                <a:uFillTx/>
                <a:latin typeface="Calibri"/>
              </a:rPr>
              <a:t>Ce qui n'a pas été implémenté dans ce projet mais serait pertinent en production :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Rectangle 4"/>
          <p:cNvSpPr/>
          <p:nvPr/>
        </p:nvSpPr>
        <p:spPr>
          <a:xfrm>
            <a:off x="365760" y="155448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Rectangle 5"/>
          <p:cNvSpPr/>
          <p:nvPr/>
        </p:nvSpPr>
        <p:spPr>
          <a:xfrm>
            <a:off x="365760" y="1554480"/>
            <a:ext cx="91080" cy="2194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6"/>
          <p:cNvSpPr/>
          <p:nvPr/>
        </p:nvSpPr>
        <p:spPr>
          <a:xfrm>
            <a:off x="594360" y="16642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Repository Pattern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7"/>
          <p:cNvSpPr/>
          <p:nvPr/>
        </p:nvSpPr>
        <p:spPr>
          <a:xfrm>
            <a:off x="594360" y="214884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Ajouter une couche Repository entre Service et Model.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NoteService ne parle plus à Note::create() directement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mais à NoteRepository::create().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→ Encore plus testable, abstrait l'ORM.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Rectangle 8"/>
          <p:cNvSpPr/>
          <p:nvPr/>
        </p:nvSpPr>
        <p:spPr>
          <a:xfrm>
            <a:off x="4251960" y="155448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Rectangle 9"/>
          <p:cNvSpPr/>
          <p:nvPr/>
        </p:nvSpPr>
        <p:spPr>
          <a:xfrm>
            <a:off x="4251960" y="1554480"/>
            <a:ext cx="91080" cy="2194200"/>
          </a:xfrm>
          <a:prstGeom prst="rect">
            <a:avLst/>
          </a:prstGeom>
          <a:solidFill>
            <a:srgbClr val="a6e3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TextBox 10"/>
          <p:cNvSpPr/>
          <p:nvPr/>
        </p:nvSpPr>
        <p:spPr>
          <a:xfrm>
            <a:off x="4480560" y="16642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6e3a1"/>
                </a:solidFill>
                <a:effectLst/>
                <a:uFillTx/>
                <a:latin typeface="Calibri"/>
              </a:rPr>
              <a:t>Laravel Sanctum (tokens API)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11"/>
          <p:cNvSpPr/>
          <p:nvPr/>
        </p:nvSpPr>
        <p:spPr>
          <a:xfrm>
            <a:off x="4480560" y="214884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Remplacer le middleware 'auth' session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 des tokens Bearer (Sanctum).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Permet à une app mobile de s'authentifier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sans cookies de session.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Rectangle 12"/>
          <p:cNvSpPr/>
          <p:nvPr/>
        </p:nvSpPr>
        <p:spPr>
          <a:xfrm>
            <a:off x="8138160" y="155448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Rectangle 13"/>
          <p:cNvSpPr/>
          <p:nvPr/>
        </p:nvSpPr>
        <p:spPr>
          <a:xfrm>
            <a:off x="8138160" y="1554480"/>
            <a:ext cx="91080" cy="2194200"/>
          </a:xfrm>
          <a:prstGeom prst="rect">
            <a:avLst/>
          </a:prstGeom>
          <a:solidFill>
            <a:srgbClr val="f9e2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TextBox 14"/>
          <p:cNvSpPr/>
          <p:nvPr/>
        </p:nvSpPr>
        <p:spPr>
          <a:xfrm>
            <a:off x="8366760" y="166428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9e2af"/>
                </a:solidFill>
                <a:effectLst/>
                <a:uFillTx/>
                <a:latin typeface="Calibri"/>
              </a:rPr>
              <a:t>Form Requests Laravel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Box 15"/>
          <p:cNvSpPr/>
          <p:nvPr/>
        </p:nvSpPr>
        <p:spPr>
          <a:xfrm>
            <a:off x="8366760" y="214884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Déplacer la validation du Controller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dans des classes dédiées (StoreNoteRequest).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Principe S : le Controller ne s'occupe plus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la validation, juste du routing.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Rectangle 16"/>
          <p:cNvSpPr/>
          <p:nvPr/>
        </p:nvSpPr>
        <p:spPr>
          <a:xfrm>
            <a:off x="365760" y="397764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Rectangle 17"/>
          <p:cNvSpPr/>
          <p:nvPr/>
        </p:nvSpPr>
        <p:spPr>
          <a:xfrm>
            <a:off x="365760" y="3977640"/>
            <a:ext cx="91080" cy="2194200"/>
          </a:xfrm>
          <a:prstGeom prst="rect">
            <a:avLst/>
          </a:prstGeom>
          <a:solidFill>
            <a:srgbClr val="fab38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TextBox 18"/>
          <p:cNvSpPr/>
          <p:nvPr/>
        </p:nvSpPr>
        <p:spPr>
          <a:xfrm>
            <a:off x="594360" y="40874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ab387"/>
                </a:solidFill>
                <a:effectLst/>
                <a:uFillTx/>
                <a:latin typeface="Calibri"/>
              </a:rPr>
              <a:t>Tests automatisés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Box 19"/>
          <p:cNvSpPr/>
          <p:nvPr/>
        </p:nvSpPr>
        <p:spPr>
          <a:xfrm>
            <a:off x="594360" y="4572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PHPUnit pour tester NoteService sans HTTP.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Jest/Vitest pour tester les composants React.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Tests d'intégration sur les endpoints API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avec Laravel HTTP Testing.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Rectangle 20"/>
          <p:cNvSpPr/>
          <p:nvPr/>
        </p:nvSpPr>
        <p:spPr>
          <a:xfrm>
            <a:off x="4251960" y="397764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7" name="Rectangle 21"/>
          <p:cNvSpPr/>
          <p:nvPr/>
        </p:nvSpPr>
        <p:spPr>
          <a:xfrm>
            <a:off x="4251960" y="3977640"/>
            <a:ext cx="91080" cy="2194200"/>
          </a:xfrm>
          <a:prstGeom prst="rect">
            <a:avLst/>
          </a:prstGeom>
          <a:solidFill>
            <a:srgbClr val="f38ba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8" name="TextBox 22"/>
          <p:cNvSpPr/>
          <p:nvPr/>
        </p:nvSpPr>
        <p:spPr>
          <a:xfrm>
            <a:off x="4480560" y="40874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38ba8"/>
                </a:solidFill>
                <a:effectLst/>
                <a:uFillTx/>
                <a:latin typeface="Calibri"/>
              </a:rPr>
              <a:t>Documentation Swagger/OpenAPI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Box 23"/>
          <p:cNvSpPr/>
          <p:nvPr/>
        </p:nvSpPr>
        <p:spPr>
          <a:xfrm>
            <a:off x="4480560" y="4572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Documenter l'API avec des annotations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 un fichier openapi.yaml.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Génère une interface interactive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pour tester les endpoints.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Rectangle 24"/>
          <p:cNvSpPr/>
          <p:nvPr/>
        </p:nvSpPr>
        <p:spPr>
          <a:xfrm>
            <a:off x="8138160" y="3977640"/>
            <a:ext cx="3611520" cy="2194200"/>
          </a:xfrm>
          <a:prstGeom prst="rect">
            <a:avLst/>
          </a:prstGeom>
          <a:solidFill>
            <a:srgbClr val="3132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1" name="Rectangle 25"/>
          <p:cNvSpPr/>
          <p:nvPr/>
        </p:nvSpPr>
        <p:spPr>
          <a:xfrm>
            <a:off x="8138160" y="3977640"/>
            <a:ext cx="91080" cy="219420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2" name="TextBox 26"/>
          <p:cNvSpPr/>
          <p:nvPr/>
        </p:nvSpPr>
        <p:spPr>
          <a:xfrm>
            <a:off x="8366760" y="4087440"/>
            <a:ext cx="3245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89b4fa"/>
                </a:solidFill>
                <a:effectLst/>
                <a:uFillTx/>
                <a:latin typeface="Calibri"/>
              </a:rPr>
              <a:t>Soft Deletes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Box 27"/>
          <p:cNvSpPr/>
          <p:nvPr/>
        </p:nvSpPr>
        <p:spPr>
          <a:xfrm>
            <a:off x="8366760" y="4572000"/>
            <a:ext cx="324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Ajouter deleted_at aux migrations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 SoftDeletes aux Models.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Les notes 'supprimées' restent en BDD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pour un éventuel historique.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LibreOffice/25.8.6.2$Linux_X86_64 LibreOffice_project/a46b460d1686bb49c718d2ef5f88b83ff2dc4981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2026-04-24T23:04:30Z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